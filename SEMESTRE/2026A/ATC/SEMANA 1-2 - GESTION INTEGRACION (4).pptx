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69" r:id="rId4"/>
    <p:sldId id="259" r:id="rId5"/>
    <p:sldId id="271" r:id="rId6"/>
    <p:sldId id="270" r:id="rId7"/>
    <p:sldId id="261" r:id="rId8"/>
    <p:sldId id="260" r:id="rId9"/>
    <p:sldId id="264" r:id="rId10"/>
    <p:sldId id="265" r:id="rId11"/>
    <p:sldId id="272" r:id="rId12"/>
    <p:sldId id="262" r:id="rId13"/>
    <p:sldId id="263" r:id="rId14"/>
    <p:sldId id="267" r:id="rId15"/>
    <p:sldId id="266" r:id="rId16"/>
    <p:sldId id="268"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0" d="100"/>
          <a:sy n="60" d="100"/>
        </p:scale>
        <p:origin x="72" y="1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758BBD-0B80-444E-9357-4C3C1441F626}" type="doc">
      <dgm:prSet loTypeId="urn:microsoft.com/office/officeart/2005/8/layout/chevron1" loCatId="process" qsTypeId="urn:microsoft.com/office/officeart/2005/8/quickstyle/simple4" qsCatId="simple" csTypeId="urn:microsoft.com/office/officeart/2005/8/colors/accent1_2" csCatId="accent1" phldr="1"/>
      <dgm:spPr/>
      <dgm:t>
        <a:bodyPr/>
        <a:lstStyle/>
        <a:p>
          <a:endParaRPr lang="es-ES"/>
        </a:p>
      </dgm:t>
    </dgm:pt>
    <dgm:pt modelId="{8D87C316-2DC8-48F2-8138-5C5AD624984B}">
      <dgm:prSet phldrT="[Texto]"/>
      <dgm:spPr/>
      <dgm:t>
        <a:bodyPr/>
        <a:lstStyle/>
        <a:p>
          <a:r>
            <a:rPr lang="es-ES" dirty="0"/>
            <a:t>PLANIFICACIÓN</a:t>
          </a:r>
        </a:p>
      </dgm:t>
    </dgm:pt>
    <dgm:pt modelId="{0356305B-F524-4D52-A844-4ECC77849F9D}" type="parTrans" cxnId="{1ED4B761-7D3D-4DA9-A399-123852216B5E}">
      <dgm:prSet/>
      <dgm:spPr/>
      <dgm:t>
        <a:bodyPr/>
        <a:lstStyle/>
        <a:p>
          <a:endParaRPr lang="es-ES"/>
        </a:p>
      </dgm:t>
    </dgm:pt>
    <dgm:pt modelId="{F0A81D03-94AB-4C5A-BC17-65B45E86A613}" type="sibTrans" cxnId="{1ED4B761-7D3D-4DA9-A399-123852216B5E}">
      <dgm:prSet/>
      <dgm:spPr/>
      <dgm:t>
        <a:bodyPr/>
        <a:lstStyle/>
        <a:p>
          <a:endParaRPr lang="es-ES"/>
        </a:p>
      </dgm:t>
    </dgm:pt>
    <dgm:pt modelId="{77C7A010-2110-40DF-8DA5-B916B2CFE272}">
      <dgm:prSet phldrT="[Texto]"/>
      <dgm:spPr/>
      <dgm:t>
        <a:bodyPr/>
        <a:lstStyle/>
        <a:p>
          <a:r>
            <a:rPr lang="es-ES" dirty="0"/>
            <a:t>EJECUCION</a:t>
          </a:r>
        </a:p>
      </dgm:t>
    </dgm:pt>
    <dgm:pt modelId="{A3B958D9-DEE4-4D2B-9421-DB66ACA9BA3A}" type="parTrans" cxnId="{24DB7D2E-2F3F-42D1-AEEE-3BA7D45C3602}">
      <dgm:prSet/>
      <dgm:spPr/>
      <dgm:t>
        <a:bodyPr/>
        <a:lstStyle/>
        <a:p>
          <a:endParaRPr lang="es-ES"/>
        </a:p>
      </dgm:t>
    </dgm:pt>
    <dgm:pt modelId="{DF8A14F7-6B31-4C2E-937E-14501009A27B}" type="sibTrans" cxnId="{24DB7D2E-2F3F-42D1-AEEE-3BA7D45C3602}">
      <dgm:prSet/>
      <dgm:spPr/>
      <dgm:t>
        <a:bodyPr/>
        <a:lstStyle/>
        <a:p>
          <a:endParaRPr lang="es-ES"/>
        </a:p>
      </dgm:t>
    </dgm:pt>
    <dgm:pt modelId="{CD3028D8-569B-4638-92AD-4E83CCC195D3}">
      <dgm:prSet phldrT="[Texto]"/>
      <dgm:spPr/>
      <dgm:t>
        <a:bodyPr/>
        <a:lstStyle/>
        <a:p>
          <a:r>
            <a:rPr lang="es-ES" dirty="0"/>
            <a:t>SEGUIMIENTO Y CONTROL</a:t>
          </a:r>
        </a:p>
      </dgm:t>
    </dgm:pt>
    <dgm:pt modelId="{DA073688-D38D-4FA1-B7E3-FEBA806D1436}" type="parTrans" cxnId="{1A35F9C6-45AC-4839-85EE-09A3B8BFF0D9}">
      <dgm:prSet/>
      <dgm:spPr/>
      <dgm:t>
        <a:bodyPr/>
        <a:lstStyle/>
        <a:p>
          <a:endParaRPr lang="es-ES"/>
        </a:p>
      </dgm:t>
    </dgm:pt>
    <dgm:pt modelId="{A107E4D6-C625-4C01-B0C6-9C75EF3DCA5B}" type="sibTrans" cxnId="{1A35F9C6-45AC-4839-85EE-09A3B8BFF0D9}">
      <dgm:prSet/>
      <dgm:spPr/>
      <dgm:t>
        <a:bodyPr/>
        <a:lstStyle/>
        <a:p>
          <a:endParaRPr lang="es-ES"/>
        </a:p>
      </dgm:t>
    </dgm:pt>
    <dgm:pt modelId="{2FBEB809-7CAD-443A-9FFA-CA4CCFC78C8D}">
      <dgm:prSet phldrT="[Texto]"/>
      <dgm:spPr/>
      <dgm:t>
        <a:bodyPr/>
        <a:lstStyle/>
        <a:p>
          <a:r>
            <a:rPr lang="es-ES" dirty="0"/>
            <a:t>CIERRE</a:t>
          </a:r>
        </a:p>
      </dgm:t>
    </dgm:pt>
    <dgm:pt modelId="{10BB898A-9BF5-4DA9-9B20-1BB27A2091A9}" type="parTrans" cxnId="{492DB436-9DBC-4D77-AC11-0348C6B607B6}">
      <dgm:prSet/>
      <dgm:spPr/>
      <dgm:t>
        <a:bodyPr/>
        <a:lstStyle/>
        <a:p>
          <a:endParaRPr lang="es-ES"/>
        </a:p>
      </dgm:t>
    </dgm:pt>
    <dgm:pt modelId="{FA09F1B2-F7DC-4FE7-B199-CB8B12A82EA2}" type="sibTrans" cxnId="{492DB436-9DBC-4D77-AC11-0348C6B607B6}">
      <dgm:prSet/>
      <dgm:spPr/>
      <dgm:t>
        <a:bodyPr/>
        <a:lstStyle/>
        <a:p>
          <a:endParaRPr lang="es-ES"/>
        </a:p>
      </dgm:t>
    </dgm:pt>
    <dgm:pt modelId="{66A52D4F-0CD1-4505-922B-AE94DD8EDADF}">
      <dgm:prSet phldrT="[Texto]"/>
      <dgm:spPr/>
      <dgm:t>
        <a:bodyPr/>
        <a:lstStyle/>
        <a:p>
          <a:r>
            <a:rPr lang="es-ES" dirty="0"/>
            <a:t>INICIO</a:t>
          </a:r>
        </a:p>
      </dgm:t>
    </dgm:pt>
    <dgm:pt modelId="{DC34FC3E-A71F-4A1E-A8E3-B0BE0EEF6066}" type="sibTrans" cxnId="{78D2ECF2-D653-4A73-BCFF-F4BB86425FBA}">
      <dgm:prSet/>
      <dgm:spPr/>
      <dgm:t>
        <a:bodyPr/>
        <a:lstStyle/>
        <a:p>
          <a:endParaRPr lang="es-ES"/>
        </a:p>
      </dgm:t>
    </dgm:pt>
    <dgm:pt modelId="{D81C185A-C43A-45FD-AB2B-D9072BB8E974}" type="parTrans" cxnId="{78D2ECF2-D653-4A73-BCFF-F4BB86425FBA}">
      <dgm:prSet/>
      <dgm:spPr/>
      <dgm:t>
        <a:bodyPr/>
        <a:lstStyle/>
        <a:p>
          <a:endParaRPr lang="es-ES"/>
        </a:p>
      </dgm:t>
    </dgm:pt>
    <dgm:pt modelId="{659440A8-30C8-42AD-99DC-7AB1F890424F}" type="pres">
      <dgm:prSet presAssocID="{A4758BBD-0B80-444E-9357-4C3C1441F626}" presName="Name0" presStyleCnt="0">
        <dgm:presLayoutVars>
          <dgm:dir/>
          <dgm:animLvl val="lvl"/>
          <dgm:resizeHandles val="exact"/>
        </dgm:presLayoutVars>
      </dgm:prSet>
      <dgm:spPr/>
      <dgm:t>
        <a:bodyPr/>
        <a:lstStyle/>
        <a:p>
          <a:endParaRPr lang="es-ES"/>
        </a:p>
      </dgm:t>
    </dgm:pt>
    <dgm:pt modelId="{2339E6BA-A9F2-4D6E-821A-793CAB096B37}" type="pres">
      <dgm:prSet presAssocID="{66A52D4F-0CD1-4505-922B-AE94DD8EDADF}" presName="parTxOnly" presStyleLbl="node1" presStyleIdx="0" presStyleCnt="5" custLinFactNeighborX="11566" custLinFactNeighborY="-1301">
        <dgm:presLayoutVars>
          <dgm:chMax val="0"/>
          <dgm:chPref val="0"/>
          <dgm:bulletEnabled val="1"/>
        </dgm:presLayoutVars>
      </dgm:prSet>
      <dgm:spPr/>
      <dgm:t>
        <a:bodyPr/>
        <a:lstStyle/>
        <a:p>
          <a:endParaRPr lang="es-ES"/>
        </a:p>
      </dgm:t>
    </dgm:pt>
    <dgm:pt modelId="{EF39772D-8D31-4005-8659-FA92F1FADA62}" type="pres">
      <dgm:prSet presAssocID="{DC34FC3E-A71F-4A1E-A8E3-B0BE0EEF6066}" presName="parTxOnlySpace" presStyleCnt="0"/>
      <dgm:spPr/>
    </dgm:pt>
    <dgm:pt modelId="{0114A784-D4F3-4D2E-90BF-79C9CCDBB74B}" type="pres">
      <dgm:prSet presAssocID="{8D87C316-2DC8-48F2-8138-5C5AD624984B}" presName="parTxOnly" presStyleLbl="node1" presStyleIdx="1" presStyleCnt="5">
        <dgm:presLayoutVars>
          <dgm:chMax val="0"/>
          <dgm:chPref val="0"/>
          <dgm:bulletEnabled val="1"/>
        </dgm:presLayoutVars>
      </dgm:prSet>
      <dgm:spPr/>
      <dgm:t>
        <a:bodyPr/>
        <a:lstStyle/>
        <a:p>
          <a:endParaRPr lang="es-ES"/>
        </a:p>
      </dgm:t>
    </dgm:pt>
    <dgm:pt modelId="{F7ABDE5B-D9B3-49D3-9D90-FE3009CA4FB0}" type="pres">
      <dgm:prSet presAssocID="{F0A81D03-94AB-4C5A-BC17-65B45E86A613}" presName="parTxOnlySpace" presStyleCnt="0"/>
      <dgm:spPr/>
    </dgm:pt>
    <dgm:pt modelId="{87D3BF6C-7849-494D-9B82-F16BFD12D962}" type="pres">
      <dgm:prSet presAssocID="{77C7A010-2110-40DF-8DA5-B916B2CFE272}" presName="parTxOnly" presStyleLbl="node1" presStyleIdx="2" presStyleCnt="5" custLinFactNeighborX="-12821" custLinFactNeighborY="-1907">
        <dgm:presLayoutVars>
          <dgm:chMax val="0"/>
          <dgm:chPref val="0"/>
          <dgm:bulletEnabled val="1"/>
        </dgm:presLayoutVars>
      </dgm:prSet>
      <dgm:spPr/>
      <dgm:t>
        <a:bodyPr/>
        <a:lstStyle/>
        <a:p>
          <a:endParaRPr lang="es-ES"/>
        </a:p>
      </dgm:t>
    </dgm:pt>
    <dgm:pt modelId="{F7A89A52-07E0-4EA7-8A5E-E25E0D64B84F}" type="pres">
      <dgm:prSet presAssocID="{DF8A14F7-6B31-4C2E-937E-14501009A27B}" presName="parTxOnlySpace" presStyleCnt="0"/>
      <dgm:spPr/>
    </dgm:pt>
    <dgm:pt modelId="{383EDE2B-D356-4A40-BDC8-23740F2BC52D}" type="pres">
      <dgm:prSet presAssocID="{CD3028D8-569B-4638-92AD-4E83CCC195D3}" presName="parTxOnly" presStyleLbl="node1" presStyleIdx="3" presStyleCnt="5" custLinFactNeighborX="20813" custLinFactNeighborY="280">
        <dgm:presLayoutVars>
          <dgm:chMax val="0"/>
          <dgm:chPref val="0"/>
          <dgm:bulletEnabled val="1"/>
        </dgm:presLayoutVars>
      </dgm:prSet>
      <dgm:spPr/>
      <dgm:t>
        <a:bodyPr/>
        <a:lstStyle/>
        <a:p>
          <a:endParaRPr lang="es-ES"/>
        </a:p>
      </dgm:t>
    </dgm:pt>
    <dgm:pt modelId="{84314AF3-EA8C-46AC-9E62-CD33BB512EE2}" type="pres">
      <dgm:prSet presAssocID="{A107E4D6-C625-4C01-B0C6-9C75EF3DCA5B}" presName="parTxOnlySpace" presStyleCnt="0"/>
      <dgm:spPr/>
    </dgm:pt>
    <dgm:pt modelId="{E3895B9C-0E3A-4A6C-A338-C4D66B2627A2}" type="pres">
      <dgm:prSet presAssocID="{2FBEB809-7CAD-443A-9FFA-CA4CCFC78C8D}" presName="parTxOnly" presStyleLbl="node1" presStyleIdx="4" presStyleCnt="5" custLinFactNeighborX="20813" custLinFactNeighborY="280">
        <dgm:presLayoutVars>
          <dgm:chMax val="0"/>
          <dgm:chPref val="0"/>
          <dgm:bulletEnabled val="1"/>
        </dgm:presLayoutVars>
      </dgm:prSet>
      <dgm:spPr/>
      <dgm:t>
        <a:bodyPr/>
        <a:lstStyle/>
        <a:p>
          <a:endParaRPr lang="es-ES"/>
        </a:p>
      </dgm:t>
    </dgm:pt>
  </dgm:ptLst>
  <dgm:cxnLst>
    <dgm:cxn modelId="{A1457DCE-AC4E-4F1D-8931-F5BC2EA5055B}" type="presOf" srcId="{8D87C316-2DC8-48F2-8138-5C5AD624984B}" destId="{0114A784-D4F3-4D2E-90BF-79C9CCDBB74B}" srcOrd="0" destOrd="0" presId="urn:microsoft.com/office/officeart/2005/8/layout/chevron1"/>
    <dgm:cxn modelId="{E493EFF2-F5C5-4088-B400-316F925846B8}" type="presOf" srcId="{2FBEB809-7CAD-443A-9FFA-CA4CCFC78C8D}" destId="{E3895B9C-0E3A-4A6C-A338-C4D66B2627A2}" srcOrd="0" destOrd="0" presId="urn:microsoft.com/office/officeart/2005/8/layout/chevron1"/>
    <dgm:cxn modelId="{1ED4B761-7D3D-4DA9-A399-123852216B5E}" srcId="{A4758BBD-0B80-444E-9357-4C3C1441F626}" destId="{8D87C316-2DC8-48F2-8138-5C5AD624984B}" srcOrd="1" destOrd="0" parTransId="{0356305B-F524-4D52-A844-4ECC77849F9D}" sibTransId="{F0A81D03-94AB-4C5A-BC17-65B45E86A613}"/>
    <dgm:cxn modelId="{78D2ECF2-D653-4A73-BCFF-F4BB86425FBA}" srcId="{A4758BBD-0B80-444E-9357-4C3C1441F626}" destId="{66A52D4F-0CD1-4505-922B-AE94DD8EDADF}" srcOrd="0" destOrd="0" parTransId="{D81C185A-C43A-45FD-AB2B-D9072BB8E974}" sibTransId="{DC34FC3E-A71F-4A1E-A8E3-B0BE0EEF6066}"/>
    <dgm:cxn modelId="{4761F98C-2CE8-4F29-99A6-FAFDBADA158D}" type="presOf" srcId="{66A52D4F-0CD1-4505-922B-AE94DD8EDADF}" destId="{2339E6BA-A9F2-4D6E-821A-793CAB096B37}" srcOrd="0" destOrd="0" presId="urn:microsoft.com/office/officeart/2005/8/layout/chevron1"/>
    <dgm:cxn modelId="{1A35F9C6-45AC-4839-85EE-09A3B8BFF0D9}" srcId="{A4758BBD-0B80-444E-9357-4C3C1441F626}" destId="{CD3028D8-569B-4638-92AD-4E83CCC195D3}" srcOrd="3" destOrd="0" parTransId="{DA073688-D38D-4FA1-B7E3-FEBA806D1436}" sibTransId="{A107E4D6-C625-4C01-B0C6-9C75EF3DCA5B}"/>
    <dgm:cxn modelId="{3EAA92BA-835A-482F-81D3-8573058A75DD}" type="presOf" srcId="{CD3028D8-569B-4638-92AD-4E83CCC195D3}" destId="{383EDE2B-D356-4A40-BDC8-23740F2BC52D}" srcOrd="0" destOrd="0" presId="urn:microsoft.com/office/officeart/2005/8/layout/chevron1"/>
    <dgm:cxn modelId="{24DB7D2E-2F3F-42D1-AEEE-3BA7D45C3602}" srcId="{A4758BBD-0B80-444E-9357-4C3C1441F626}" destId="{77C7A010-2110-40DF-8DA5-B916B2CFE272}" srcOrd="2" destOrd="0" parTransId="{A3B958D9-DEE4-4D2B-9421-DB66ACA9BA3A}" sibTransId="{DF8A14F7-6B31-4C2E-937E-14501009A27B}"/>
    <dgm:cxn modelId="{C0345130-8350-4B6D-8E45-18F4D61F75D2}" type="presOf" srcId="{A4758BBD-0B80-444E-9357-4C3C1441F626}" destId="{659440A8-30C8-42AD-99DC-7AB1F890424F}" srcOrd="0" destOrd="0" presId="urn:microsoft.com/office/officeart/2005/8/layout/chevron1"/>
    <dgm:cxn modelId="{E79B38DF-0A4E-4746-B68C-4DCDC5EC836D}" type="presOf" srcId="{77C7A010-2110-40DF-8DA5-B916B2CFE272}" destId="{87D3BF6C-7849-494D-9B82-F16BFD12D962}" srcOrd="0" destOrd="0" presId="urn:microsoft.com/office/officeart/2005/8/layout/chevron1"/>
    <dgm:cxn modelId="{492DB436-9DBC-4D77-AC11-0348C6B607B6}" srcId="{A4758BBD-0B80-444E-9357-4C3C1441F626}" destId="{2FBEB809-7CAD-443A-9FFA-CA4CCFC78C8D}" srcOrd="4" destOrd="0" parTransId="{10BB898A-9BF5-4DA9-9B20-1BB27A2091A9}" sibTransId="{FA09F1B2-F7DC-4FE7-B199-CB8B12A82EA2}"/>
    <dgm:cxn modelId="{E89C5002-2664-47D7-8FB1-C16B71E1EEAF}" type="presParOf" srcId="{659440A8-30C8-42AD-99DC-7AB1F890424F}" destId="{2339E6BA-A9F2-4D6E-821A-793CAB096B37}" srcOrd="0" destOrd="0" presId="urn:microsoft.com/office/officeart/2005/8/layout/chevron1"/>
    <dgm:cxn modelId="{3932A161-CA9E-4898-AABE-F3266A052F44}" type="presParOf" srcId="{659440A8-30C8-42AD-99DC-7AB1F890424F}" destId="{EF39772D-8D31-4005-8659-FA92F1FADA62}" srcOrd="1" destOrd="0" presId="urn:microsoft.com/office/officeart/2005/8/layout/chevron1"/>
    <dgm:cxn modelId="{FA960622-F23C-4CA9-83E6-2D1D1F61EB95}" type="presParOf" srcId="{659440A8-30C8-42AD-99DC-7AB1F890424F}" destId="{0114A784-D4F3-4D2E-90BF-79C9CCDBB74B}" srcOrd="2" destOrd="0" presId="urn:microsoft.com/office/officeart/2005/8/layout/chevron1"/>
    <dgm:cxn modelId="{5210932C-C380-4B1B-8039-90274E375F39}" type="presParOf" srcId="{659440A8-30C8-42AD-99DC-7AB1F890424F}" destId="{F7ABDE5B-D9B3-49D3-9D90-FE3009CA4FB0}" srcOrd="3" destOrd="0" presId="urn:microsoft.com/office/officeart/2005/8/layout/chevron1"/>
    <dgm:cxn modelId="{017DB77F-5177-492E-A16E-9F6EA9636EF6}" type="presParOf" srcId="{659440A8-30C8-42AD-99DC-7AB1F890424F}" destId="{87D3BF6C-7849-494D-9B82-F16BFD12D962}" srcOrd="4" destOrd="0" presId="urn:microsoft.com/office/officeart/2005/8/layout/chevron1"/>
    <dgm:cxn modelId="{E90365A6-FAC2-4A3C-9259-A52265814718}" type="presParOf" srcId="{659440A8-30C8-42AD-99DC-7AB1F890424F}" destId="{F7A89A52-07E0-4EA7-8A5E-E25E0D64B84F}" srcOrd="5" destOrd="0" presId="urn:microsoft.com/office/officeart/2005/8/layout/chevron1"/>
    <dgm:cxn modelId="{11CE3934-51E9-424E-A29B-E99087F86E38}" type="presParOf" srcId="{659440A8-30C8-42AD-99DC-7AB1F890424F}" destId="{383EDE2B-D356-4A40-BDC8-23740F2BC52D}" srcOrd="6" destOrd="0" presId="urn:microsoft.com/office/officeart/2005/8/layout/chevron1"/>
    <dgm:cxn modelId="{13B479E8-17EA-4727-8B04-B4DAAD7B3207}" type="presParOf" srcId="{659440A8-30C8-42AD-99DC-7AB1F890424F}" destId="{84314AF3-EA8C-46AC-9E62-CD33BB512EE2}" srcOrd="7" destOrd="0" presId="urn:microsoft.com/office/officeart/2005/8/layout/chevron1"/>
    <dgm:cxn modelId="{4ECEDA3A-DA1D-43FC-B4AF-90CC940AFF98}" type="presParOf" srcId="{659440A8-30C8-42AD-99DC-7AB1F890424F}" destId="{E3895B9C-0E3A-4A6C-A338-C4D66B2627A2}"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39E6BA-A9F2-4D6E-821A-793CAB096B37}">
      <dsp:nvSpPr>
        <dsp:cNvPr id="0" name=""/>
        <dsp:cNvSpPr/>
      </dsp:nvSpPr>
      <dsp:spPr>
        <a:xfrm>
          <a:off x="18142" y="392920"/>
          <a:ext cx="1429682" cy="571873"/>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13335" rIns="13335" bIns="13335" numCol="1" spcCol="1270" anchor="ctr" anchorCtr="0">
          <a:noAutofit/>
        </a:bodyPr>
        <a:lstStyle/>
        <a:p>
          <a:pPr lvl="0" algn="ctr" defTabSz="444500">
            <a:lnSpc>
              <a:spcPct val="90000"/>
            </a:lnSpc>
            <a:spcBef>
              <a:spcPct val="0"/>
            </a:spcBef>
            <a:spcAft>
              <a:spcPct val="35000"/>
            </a:spcAft>
          </a:pPr>
          <a:r>
            <a:rPr lang="es-ES" sz="1000" kern="1200" dirty="0"/>
            <a:t>INICIO</a:t>
          </a:r>
        </a:p>
      </dsp:txBody>
      <dsp:txXfrm>
        <a:off x="304079" y="392920"/>
        <a:ext cx="857809" cy="571873"/>
      </dsp:txXfrm>
    </dsp:sp>
    <dsp:sp modelId="{0114A784-D4F3-4D2E-90BF-79C9CCDBB74B}">
      <dsp:nvSpPr>
        <dsp:cNvPr id="0" name=""/>
        <dsp:cNvSpPr/>
      </dsp:nvSpPr>
      <dsp:spPr>
        <a:xfrm>
          <a:off x="1288320" y="400360"/>
          <a:ext cx="1429682" cy="571873"/>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13335" rIns="13335" bIns="13335" numCol="1" spcCol="1270" anchor="ctr" anchorCtr="0">
          <a:noAutofit/>
        </a:bodyPr>
        <a:lstStyle/>
        <a:p>
          <a:pPr lvl="0" algn="ctr" defTabSz="444500">
            <a:lnSpc>
              <a:spcPct val="90000"/>
            </a:lnSpc>
            <a:spcBef>
              <a:spcPct val="0"/>
            </a:spcBef>
            <a:spcAft>
              <a:spcPct val="35000"/>
            </a:spcAft>
          </a:pPr>
          <a:r>
            <a:rPr lang="es-ES" sz="1000" kern="1200" dirty="0"/>
            <a:t>PLANIFICACIÓN</a:t>
          </a:r>
        </a:p>
      </dsp:txBody>
      <dsp:txXfrm>
        <a:off x="1574257" y="400360"/>
        <a:ext cx="857809" cy="571873"/>
      </dsp:txXfrm>
    </dsp:sp>
    <dsp:sp modelId="{87D3BF6C-7849-494D-9B82-F16BFD12D962}">
      <dsp:nvSpPr>
        <dsp:cNvPr id="0" name=""/>
        <dsp:cNvSpPr/>
      </dsp:nvSpPr>
      <dsp:spPr>
        <a:xfrm>
          <a:off x="2556705" y="389454"/>
          <a:ext cx="1429682" cy="571873"/>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13335" rIns="13335" bIns="13335" numCol="1" spcCol="1270" anchor="ctr" anchorCtr="0">
          <a:noAutofit/>
        </a:bodyPr>
        <a:lstStyle/>
        <a:p>
          <a:pPr lvl="0" algn="ctr" defTabSz="444500">
            <a:lnSpc>
              <a:spcPct val="90000"/>
            </a:lnSpc>
            <a:spcBef>
              <a:spcPct val="0"/>
            </a:spcBef>
            <a:spcAft>
              <a:spcPct val="35000"/>
            </a:spcAft>
          </a:pPr>
          <a:r>
            <a:rPr lang="es-ES" sz="1000" kern="1200" dirty="0"/>
            <a:t>EJECUCION</a:t>
          </a:r>
        </a:p>
      </dsp:txBody>
      <dsp:txXfrm>
        <a:off x="2842642" y="389454"/>
        <a:ext cx="857809" cy="571873"/>
      </dsp:txXfrm>
    </dsp:sp>
    <dsp:sp modelId="{383EDE2B-D356-4A40-BDC8-23740F2BC52D}">
      <dsp:nvSpPr>
        <dsp:cNvPr id="0" name=""/>
        <dsp:cNvSpPr/>
      </dsp:nvSpPr>
      <dsp:spPr>
        <a:xfrm>
          <a:off x="3891506" y="401961"/>
          <a:ext cx="1429682" cy="571873"/>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13335" rIns="13335" bIns="13335" numCol="1" spcCol="1270" anchor="ctr" anchorCtr="0">
          <a:noAutofit/>
        </a:bodyPr>
        <a:lstStyle/>
        <a:p>
          <a:pPr lvl="0" algn="ctr" defTabSz="444500">
            <a:lnSpc>
              <a:spcPct val="90000"/>
            </a:lnSpc>
            <a:spcBef>
              <a:spcPct val="0"/>
            </a:spcBef>
            <a:spcAft>
              <a:spcPct val="35000"/>
            </a:spcAft>
          </a:pPr>
          <a:r>
            <a:rPr lang="es-ES" sz="1000" kern="1200" dirty="0"/>
            <a:t>SEGUIMIENTO Y CONTROL</a:t>
          </a:r>
        </a:p>
      </dsp:txBody>
      <dsp:txXfrm>
        <a:off x="4177443" y="401961"/>
        <a:ext cx="857809" cy="571873"/>
      </dsp:txXfrm>
    </dsp:sp>
    <dsp:sp modelId="{E3895B9C-0E3A-4A6C-A338-C4D66B2627A2}">
      <dsp:nvSpPr>
        <dsp:cNvPr id="0" name=""/>
        <dsp:cNvSpPr/>
      </dsp:nvSpPr>
      <dsp:spPr>
        <a:xfrm>
          <a:off x="5150071" y="401961"/>
          <a:ext cx="1429682" cy="571873"/>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13335" rIns="13335" bIns="13335" numCol="1" spcCol="1270" anchor="ctr" anchorCtr="0">
          <a:noAutofit/>
        </a:bodyPr>
        <a:lstStyle/>
        <a:p>
          <a:pPr lvl="0" algn="ctr" defTabSz="444500">
            <a:lnSpc>
              <a:spcPct val="90000"/>
            </a:lnSpc>
            <a:spcBef>
              <a:spcPct val="0"/>
            </a:spcBef>
            <a:spcAft>
              <a:spcPct val="35000"/>
            </a:spcAft>
          </a:pPr>
          <a:r>
            <a:rPr lang="es-ES" sz="1000" kern="1200" dirty="0"/>
            <a:t>CIERRE</a:t>
          </a:r>
        </a:p>
      </dsp:txBody>
      <dsp:txXfrm>
        <a:off x="5436008" y="401961"/>
        <a:ext cx="857809" cy="571873"/>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CF1113-3437-4E85-A573-61D2F0ABE3A9}" type="datetimeFigureOut">
              <a:rPr lang="es-CO" smtClean="0"/>
              <a:t>2/02/2026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783799-162E-40E5-87E7-DB2323E62B82}" type="slidenum">
              <a:rPr lang="es-CO" smtClean="0"/>
              <a:t>‹Nº›</a:t>
            </a:fld>
            <a:endParaRPr lang="es-CO"/>
          </a:p>
        </p:txBody>
      </p:sp>
    </p:spTree>
    <p:extLst>
      <p:ext uri="{BB962C8B-B14F-4D97-AF65-F5344CB8AC3E}">
        <p14:creationId xmlns:p14="http://schemas.microsoft.com/office/powerpoint/2010/main" val="845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CO"/>
          </a:p>
        </p:txBody>
      </p:sp>
      <p:sp>
        <p:nvSpPr>
          <p:cNvPr id="4" name="Marcador de fecha 3"/>
          <p:cNvSpPr>
            <a:spLocks noGrp="1"/>
          </p:cNvSpPr>
          <p:nvPr>
            <p:ph type="dt" sz="half" idx="10"/>
          </p:nvPr>
        </p:nvSpPr>
        <p:spPr/>
        <p:txBody>
          <a:bodyPr/>
          <a:lstStyle/>
          <a:p>
            <a:fld id="{DB06FBAE-C52F-47AD-93B0-963265682522}" type="datetimeFigureOut">
              <a:rPr lang="es-CO" smtClean="0"/>
              <a:t>2/02/2026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A96FBD-C34B-4BFE-9EAD-53B988C612EE}" type="slidenum">
              <a:rPr lang="es-CO" smtClean="0"/>
              <a:t>‹Nº›</a:t>
            </a:fld>
            <a:endParaRPr lang="es-CO"/>
          </a:p>
        </p:txBody>
      </p:sp>
    </p:spTree>
    <p:extLst>
      <p:ext uri="{BB962C8B-B14F-4D97-AF65-F5344CB8AC3E}">
        <p14:creationId xmlns:p14="http://schemas.microsoft.com/office/powerpoint/2010/main" val="921931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10"/>
          </p:nvPr>
        </p:nvSpPr>
        <p:spPr/>
        <p:txBody>
          <a:bodyPr/>
          <a:lstStyle/>
          <a:p>
            <a:fld id="{DB06FBAE-C52F-47AD-93B0-963265682522}" type="datetimeFigureOut">
              <a:rPr lang="es-CO" smtClean="0"/>
              <a:t>2/02/2026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A96FBD-C34B-4BFE-9EAD-53B988C612EE}" type="slidenum">
              <a:rPr lang="es-CO" smtClean="0"/>
              <a:t>‹Nº›</a:t>
            </a:fld>
            <a:endParaRPr lang="es-CO"/>
          </a:p>
        </p:txBody>
      </p:sp>
    </p:spTree>
    <p:extLst>
      <p:ext uri="{BB962C8B-B14F-4D97-AF65-F5344CB8AC3E}">
        <p14:creationId xmlns:p14="http://schemas.microsoft.com/office/powerpoint/2010/main" val="251981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DB06FBAE-C52F-47AD-93B0-963265682522}" type="datetimeFigureOut">
              <a:rPr lang="es-CO" smtClean="0"/>
              <a:t>2/02/2026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A96FBD-C34B-4BFE-9EAD-53B988C612EE}" type="slidenum">
              <a:rPr lang="es-CO" smtClean="0"/>
              <a:t>‹Nº›</a:t>
            </a:fld>
            <a:endParaRPr lang="es-CO"/>
          </a:p>
        </p:txBody>
      </p:sp>
    </p:spTree>
    <p:extLst>
      <p:ext uri="{BB962C8B-B14F-4D97-AF65-F5344CB8AC3E}">
        <p14:creationId xmlns:p14="http://schemas.microsoft.com/office/powerpoint/2010/main" val="3530036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5" name="Marcador de fecha 4"/>
          <p:cNvSpPr>
            <a:spLocks noGrp="1"/>
          </p:cNvSpPr>
          <p:nvPr>
            <p:ph type="dt" sz="half" idx="10"/>
          </p:nvPr>
        </p:nvSpPr>
        <p:spPr/>
        <p:txBody>
          <a:bodyPr/>
          <a:lstStyle/>
          <a:p>
            <a:fld id="{DB06FBAE-C52F-47AD-93B0-963265682522}" type="datetimeFigureOut">
              <a:rPr lang="es-CO" smtClean="0"/>
              <a:t>2/02/2026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A96FBD-C34B-4BFE-9EAD-53B988C612EE}" type="slidenum">
              <a:rPr lang="es-CO" smtClean="0"/>
              <a:t>‹Nº›</a:t>
            </a:fld>
            <a:endParaRPr lang="es-CO"/>
          </a:p>
        </p:txBody>
      </p:sp>
    </p:spTree>
    <p:extLst>
      <p:ext uri="{BB962C8B-B14F-4D97-AF65-F5344CB8AC3E}">
        <p14:creationId xmlns:p14="http://schemas.microsoft.com/office/powerpoint/2010/main" val="3725359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7" name="Marcador de fecha 6"/>
          <p:cNvSpPr>
            <a:spLocks noGrp="1"/>
          </p:cNvSpPr>
          <p:nvPr>
            <p:ph type="dt" sz="half" idx="10"/>
          </p:nvPr>
        </p:nvSpPr>
        <p:spPr/>
        <p:txBody>
          <a:bodyPr/>
          <a:lstStyle/>
          <a:p>
            <a:fld id="{DB06FBAE-C52F-47AD-93B0-963265682522}" type="datetimeFigureOut">
              <a:rPr lang="es-CO" smtClean="0"/>
              <a:t>2/02/2026</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E9A96FBD-C34B-4BFE-9EAD-53B988C612EE}" type="slidenum">
              <a:rPr lang="es-CO" smtClean="0"/>
              <a:t>‹Nº›</a:t>
            </a:fld>
            <a:endParaRPr lang="es-CO"/>
          </a:p>
        </p:txBody>
      </p:sp>
    </p:spTree>
    <p:extLst>
      <p:ext uri="{BB962C8B-B14F-4D97-AF65-F5344CB8AC3E}">
        <p14:creationId xmlns:p14="http://schemas.microsoft.com/office/powerpoint/2010/main" val="2672788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fecha 2"/>
          <p:cNvSpPr>
            <a:spLocks noGrp="1"/>
          </p:cNvSpPr>
          <p:nvPr>
            <p:ph type="dt" sz="half" idx="10"/>
          </p:nvPr>
        </p:nvSpPr>
        <p:spPr/>
        <p:txBody>
          <a:bodyPr/>
          <a:lstStyle/>
          <a:p>
            <a:fld id="{DB06FBAE-C52F-47AD-93B0-963265682522}" type="datetimeFigureOut">
              <a:rPr lang="es-CO" smtClean="0"/>
              <a:t>2/02/2026</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E9A96FBD-C34B-4BFE-9EAD-53B988C612EE}" type="slidenum">
              <a:rPr lang="es-CO" smtClean="0"/>
              <a:t>‹Nº›</a:t>
            </a:fld>
            <a:endParaRPr lang="es-CO"/>
          </a:p>
        </p:txBody>
      </p:sp>
    </p:spTree>
    <p:extLst>
      <p:ext uri="{BB962C8B-B14F-4D97-AF65-F5344CB8AC3E}">
        <p14:creationId xmlns:p14="http://schemas.microsoft.com/office/powerpoint/2010/main" val="210655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DB06FBAE-C52F-47AD-93B0-963265682522}" type="datetimeFigureOut">
              <a:rPr lang="es-CO" smtClean="0"/>
              <a:t>2/02/2026</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E9A96FBD-C34B-4BFE-9EAD-53B988C612EE}" type="slidenum">
              <a:rPr lang="es-CO" smtClean="0"/>
              <a:t>‹Nº›</a:t>
            </a:fld>
            <a:endParaRPr lang="es-CO"/>
          </a:p>
        </p:txBody>
      </p:sp>
    </p:spTree>
    <p:extLst>
      <p:ext uri="{BB962C8B-B14F-4D97-AF65-F5344CB8AC3E}">
        <p14:creationId xmlns:p14="http://schemas.microsoft.com/office/powerpoint/2010/main" val="3803545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DB06FBAE-C52F-47AD-93B0-963265682522}" type="datetimeFigureOut">
              <a:rPr lang="es-CO" smtClean="0"/>
              <a:t>2/02/2026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A96FBD-C34B-4BFE-9EAD-53B988C612EE}" type="slidenum">
              <a:rPr lang="es-CO" smtClean="0"/>
              <a:t>‹Nº›</a:t>
            </a:fld>
            <a:endParaRPr lang="es-CO"/>
          </a:p>
        </p:txBody>
      </p:sp>
    </p:spTree>
    <p:extLst>
      <p:ext uri="{BB962C8B-B14F-4D97-AF65-F5344CB8AC3E}">
        <p14:creationId xmlns:p14="http://schemas.microsoft.com/office/powerpoint/2010/main" val="882752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DB06FBAE-C52F-47AD-93B0-963265682522}" type="datetimeFigureOut">
              <a:rPr lang="es-CO" smtClean="0"/>
              <a:t>2/02/2026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A96FBD-C34B-4BFE-9EAD-53B988C612EE}" type="slidenum">
              <a:rPr lang="es-CO" smtClean="0"/>
              <a:t>‹Nº›</a:t>
            </a:fld>
            <a:endParaRPr lang="es-CO"/>
          </a:p>
        </p:txBody>
      </p:sp>
    </p:spTree>
    <p:extLst>
      <p:ext uri="{BB962C8B-B14F-4D97-AF65-F5344CB8AC3E}">
        <p14:creationId xmlns:p14="http://schemas.microsoft.com/office/powerpoint/2010/main" val="1552753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10"/>
          </p:nvPr>
        </p:nvSpPr>
        <p:spPr/>
        <p:txBody>
          <a:bodyPr/>
          <a:lstStyle/>
          <a:p>
            <a:fld id="{DB06FBAE-C52F-47AD-93B0-963265682522}" type="datetimeFigureOut">
              <a:rPr lang="es-CO" smtClean="0"/>
              <a:t>2/02/2026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A96FBD-C34B-4BFE-9EAD-53B988C612EE}" type="slidenum">
              <a:rPr lang="es-CO" smtClean="0"/>
              <a:t>‹Nº›</a:t>
            </a:fld>
            <a:endParaRPr lang="es-CO"/>
          </a:p>
        </p:txBody>
      </p:sp>
    </p:spTree>
    <p:extLst>
      <p:ext uri="{BB962C8B-B14F-4D97-AF65-F5344CB8AC3E}">
        <p14:creationId xmlns:p14="http://schemas.microsoft.com/office/powerpoint/2010/main" val="2349632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10"/>
          </p:nvPr>
        </p:nvSpPr>
        <p:spPr/>
        <p:txBody>
          <a:bodyPr/>
          <a:lstStyle/>
          <a:p>
            <a:fld id="{DB06FBAE-C52F-47AD-93B0-963265682522}" type="datetimeFigureOut">
              <a:rPr lang="es-CO" smtClean="0"/>
              <a:t>2/02/2026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A96FBD-C34B-4BFE-9EAD-53B988C612EE}" type="slidenum">
              <a:rPr lang="es-CO" smtClean="0"/>
              <a:t>‹Nº›</a:t>
            </a:fld>
            <a:endParaRPr lang="es-CO"/>
          </a:p>
        </p:txBody>
      </p:sp>
    </p:spTree>
    <p:extLst>
      <p:ext uri="{BB962C8B-B14F-4D97-AF65-F5344CB8AC3E}">
        <p14:creationId xmlns:p14="http://schemas.microsoft.com/office/powerpoint/2010/main" val="848441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06FBAE-C52F-47AD-93B0-963265682522}" type="datetimeFigureOut">
              <a:rPr lang="es-CO" smtClean="0"/>
              <a:t>2/02/2026</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A96FBD-C34B-4BFE-9EAD-53B988C612EE}" type="slidenum">
              <a:rPr lang="es-CO" smtClean="0"/>
              <a:t>‹Nº›</a:t>
            </a:fld>
            <a:endParaRPr lang="es-CO"/>
          </a:p>
        </p:txBody>
      </p:sp>
    </p:spTree>
    <p:extLst>
      <p:ext uri="{BB962C8B-B14F-4D97-AF65-F5344CB8AC3E}">
        <p14:creationId xmlns:p14="http://schemas.microsoft.com/office/powerpoint/2010/main" val="440063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3 Grupo"/>
          <p:cNvGrpSpPr>
            <a:grpSpLocks/>
          </p:cNvGrpSpPr>
          <p:nvPr/>
        </p:nvGrpSpPr>
        <p:grpSpPr bwMode="auto">
          <a:xfrm>
            <a:off x="1524000" y="0"/>
            <a:ext cx="9144000" cy="6858000"/>
            <a:chOff x="0" y="0"/>
            <a:chExt cx="9144000" cy="6858000"/>
          </a:xfrm>
        </p:grpSpPr>
        <p:pic>
          <p:nvPicPr>
            <p:cNvPr id="5" name="4 Imagen" descr="Imagen1.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6" name="5 Imagen" descr="logoescudo.png"/>
            <p:cNvPicPr>
              <a:picLocks noChangeAspect="1"/>
            </p:cNvPicPr>
            <p:nvPr/>
          </p:nvPicPr>
          <p:blipFill>
            <a:blip r:embed="rId3" cstate="print"/>
            <a:stretch>
              <a:fillRect/>
            </a:stretch>
          </p:blipFill>
          <p:spPr>
            <a:xfrm>
              <a:off x="214313" y="5572125"/>
              <a:ext cx="3516312" cy="1133475"/>
            </a:xfrm>
            <a:prstGeom prst="rect">
              <a:avLst/>
            </a:prstGeom>
            <a:effectLst>
              <a:outerShdw blurRad="368300" sx="90000" sy="90000" algn="ctr" rotWithShape="0">
                <a:sysClr val="window" lastClr="FFFFFF">
                  <a:alpha val="18000"/>
                </a:sysClr>
              </a:outerShdw>
            </a:effectLst>
          </p:spPr>
        </p:pic>
      </p:grpSp>
      <p:sp>
        <p:nvSpPr>
          <p:cNvPr id="2" name="1 Título"/>
          <p:cNvSpPr>
            <a:spLocks noGrp="1"/>
          </p:cNvSpPr>
          <p:nvPr>
            <p:ph type="ctrTitle"/>
          </p:nvPr>
        </p:nvSpPr>
        <p:spPr>
          <a:xfrm>
            <a:off x="5381620" y="2000241"/>
            <a:ext cx="4814894" cy="2115513"/>
          </a:xfrm>
        </p:spPr>
        <p:txBody>
          <a:bodyPr>
            <a:noAutofit/>
          </a:bodyPr>
          <a:lstStyle/>
          <a:p>
            <a:pPr algn="ctr"/>
            <a:r>
              <a:rPr lang="es-ES" sz="3600" smtClean="0">
                <a:solidFill>
                  <a:schemeClr val="bg1"/>
                </a:solidFill>
              </a:rPr>
              <a:t>SEMANA 1-2:   Gestión de Integración  </a:t>
            </a:r>
            <a:endParaRPr lang="es-CO" sz="3600" dirty="0">
              <a:solidFill>
                <a:schemeClr val="bg1"/>
              </a:solidFill>
            </a:endParaRPr>
          </a:p>
        </p:txBody>
      </p:sp>
      <p:sp>
        <p:nvSpPr>
          <p:cNvPr id="3" name="2 Subtítulo"/>
          <p:cNvSpPr>
            <a:spLocks noGrp="1"/>
          </p:cNvSpPr>
          <p:nvPr>
            <p:ph type="subTitle" idx="1"/>
          </p:nvPr>
        </p:nvSpPr>
        <p:spPr>
          <a:xfrm>
            <a:off x="5669595" y="5562379"/>
            <a:ext cx="5004048" cy="709602"/>
          </a:xfrm>
        </p:spPr>
        <p:txBody>
          <a:bodyPr>
            <a:normAutofit/>
          </a:bodyPr>
          <a:lstStyle/>
          <a:p>
            <a:r>
              <a:rPr lang="es-CO" sz="1600" b="1" i="1" smtClean="0">
                <a:solidFill>
                  <a:schemeClr val="bg1"/>
                </a:solidFill>
              </a:rPr>
              <a:t>ING., MAP.  MARIA DEL PILAR ROJAS PUENTES</a:t>
            </a:r>
            <a:endParaRPr lang="es-CO" sz="1600" b="1" i="1" dirty="0">
              <a:solidFill>
                <a:schemeClr val="bg1"/>
              </a:solidFill>
            </a:endParaRPr>
          </a:p>
        </p:txBody>
      </p:sp>
      <p:sp>
        <p:nvSpPr>
          <p:cNvPr id="7" name="CuadroTexto 6"/>
          <p:cNvSpPr txBox="1"/>
          <p:nvPr/>
        </p:nvSpPr>
        <p:spPr>
          <a:xfrm>
            <a:off x="6432068" y="6181514"/>
            <a:ext cx="3479103" cy="646331"/>
          </a:xfrm>
          <a:prstGeom prst="rect">
            <a:avLst/>
          </a:prstGeom>
          <a:noFill/>
        </p:spPr>
        <p:txBody>
          <a:bodyPr wrap="square" rtlCol="0">
            <a:spAutoFit/>
          </a:bodyPr>
          <a:lstStyle/>
          <a:p>
            <a:r>
              <a:rPr lang="es-CO" dirty="0">
                <a:solidFill>
                  <a:schemeClr val="bg1"/>
                </a:solidFill>
              </a:rPr>
              <a:t>FTE:  PMBOK 6, Lledó 6.0 y PMBOK 7.</a:t>
            </a:r>
          </a:p>
        </p:txBody>
      </p:sp>
    </p:spTree>
    <p:extLst>
      <p:ext uri="{BB962C8B-B14F-4D97-AF65-F5344CB8AC3E}">
        <p14:creationId xmlns:p14="http://schemas.microsoft.com/office/powerpoint/2010/main" val="14901278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 Grupo"/>
          <p:cNvGrpSpPr>
            <a:grpSpLocks/>
          </p:cNvGrpSpPr>
          <p:nvPr/>
        </p:nvGrpSpPr>
        <p:grpSpPr bwMode="auto">
          <a:xfrm>
            <a:off x="1415480" y="0"/>
            <a:ext cx="9252520" cy="6971298"/>
            <a:chOff x="-142908" y="72432"/>
            <a:chExt cx="9252553" cy="6970528"/>
          </a:xfrm>
        </p:grpSpPr>
        <p:pic>
          <p:nvPicPr>
            <p:cNvPr id="6" name="3 Imagen" descr="Imagen2.jpg"/>
            <p:cNvPicPr>
              <a:picLocks noChangeAspect="1"/>
            </p:cNvPicPr>
            <p:nvPr/>
          </p:nvPicPr>
          <p:blipFill>
            <a:blip r:embed="rId2" cstate="print"/>
            <a:srcRect b="4166"/>
            <a:stretch>
              <a:fillRect/>
            </a:stretch>
          </p:blipFill>
          <p:spPr bwMode="auto">
            <a:xfrm>
              <a:off x="-34355" y="72432"/>
              <a:ext cx="9144000" cy="6858000"/>
            </a:xfrm>
            <a:prstGeom prst="rect">
              <a:avLst/>
            </a:prstGeom>
            <a:noFill/>
            <a:ln w="9525">
              <a:noFill/>
              <a:miter lim="800000"/>
              <a:headEnd/>
              <a:tailEnd/>
            </a:ln>
          </p:spPr>
        </p:pic>
        <p:pic>
          <p:nvPicPr>
            <p:cNvPr id="7"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2" name="Grupo 1">
            <a:extLst>
              <a:ext uri="{FF2B5EF4-FFF2-40B4-BE49-F238E27FC236}">
                <a16:creationId xmlns:a16="http://schemas.microsoft.com/office/drawing/2014/main" id="{68FB7725-39AA-43F0-88FC-D30C6ACD4C03}"/>
              </a:ext>
            </a:extLst>
          </p:cNvPr>
          <p:cNvGrpSpPr/>
          <p:nvPr/>
        </p:nvGrpSpPr>
        <p:grpSpPr>
          <a:xfrm>
            <a:off x="1979201" y="2020946"/>
            <a:ext cx="8361187" cy="1800200"/>
            <a:chOff x="455200" y="2020946"/>
            <a:chExt cx="8361187" cy="1800200"/>
          </a:xfrm>
        </p:grpSpPr>
        <p:sp>
          <p:nvSpPr>
            <p:cNvPr id="9" name="Rectángulo 8"/>
            <p:cNvSpPr/>
            <p:nvPr/>
          </p:nvSpPr>
          <p:spPr>
            <a:xfrm>
              <a:off x="455200" y="2199656"/>
              <a:ext cx="1697329" cy="710597"/>
            </a:xfrm>
            <a:prstGeom prst="rect">
              <a:avLst/>
            </a:prstGeom>
            <a:gradFill flip="none" rotWithShape="1">
              <a:gsLst>
                <a:gs pos="0">
                  <a:srgbClr val="FF9999">
                    <a:shade val="30000"/>
                    <a:satMod val="115000"/>
                  </a:srgbClr>
                </a:gs>
                <a:gs pos="50000">
                  <a:srgbClr val="FF9999">
                    <a:shade val="67500"/>
                    <a:satMod val="115000"/>
                  </a:srgbClr>
                </a:gs>
                <a:gs pos="100000">
                  <a:srgbClr val="FF9999">
                    <a:shade val="100000"/>
                    <a:satMod val="115000"/>
                  </a:srgbClr>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tx1"/>
                  </a:solidFill>
                  <a:effectLst>
                    <a:outerShdw blurRad="38100" dist="19050" dir="2700000" algn="tl" rotWithShape="0">
                      <a:schemeClr val="dk1">
                        <a:alpha val="40000"/>
                      </a:schemeClr>
                    </a:outerShdw>
                  </a:effectLst>
                </a:rPr>
                <a:t>FORMULACIÓN </a:t>
              </a:r>
              <a:endParaRPr lang="es-CO" sz="1600" dirty="0">
                <a:ln w="0"/>
                <a:solidFill>
                  <a:schemeClr val="tx1"/>
                </a:solidFill>
                <a:effectLst>
                  <a:outerShdw blurRad="38100" dist="19050" dir="2700000" algn="tl" rotWithShape="0">
                    <a:schemeClr val="dk1">
                      <a:alpha val="40000"/>
                    </a:schemeClr>
                  </a:outerShdw>
                </a:effectLst>
              </a:endParaRPr>
            </a:p>
          </p:txBody>
        </p:sp>
        <p:sp>
          <p:nvSpPr>
            <p:cNvPr id="10" name="Decisión 9"/>
            <p:cNvSpPr/>
            <p:nvPr/>
          </p:nvSpPr>
          <p:spPr>
            <a:xfrm>
              <a:off x="2794499" y="2020946"/>
              <a:ext cx="2385373" cy="1007055"/>
            </a:xfrm>
            <a:prstGeom prst="flowChartDecision">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b="1" dirty="0">
                  <a:solidFill>
                    <a:schemeClr val="tx1"/>
                  </a:solidFill>
                </a:rPr>
                <a:t>EVALUACION</a:t>
              </a:r>
            </a:p>
          </p:txBody>
        </p:sp>
        <p:cxnSp>
          <p:nvCxnSpPr>
            <p:cNvPr id="11" name="Conector recto de flecha 10"/>
            <p:cNvCxnSpPr/>
            <p:nvPr/>
          </p:nvCxnSpPr>
          <p:spPr>
            <a:xfrm flipV="1">
              <a:off x="2152530" y="2554954"/>
              <a:ext cx="641970" cy="53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11"/>
            <p:cNvCxnSpPr>
              <a:stCxn id="10" idx="2"/>
            </p:cNvCxnSpPr>
            <p:nvPr/>
          </p:nvCxnSpPr>
          <p:spPr>
            <a:xfrm>
              <a:off x="3987186" y="3028001"/>
              <a:ext cx="2863" cy="5169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p:cNvCxnSpPr/>
            <p:nvPr/>
          </p:nvCxnSpPr>
          <p:spPr>
            <a:xfrm flipH="1">
              <a:off x="1344705" y="3513756"/>
              <a:ext cx="2642481" cy="311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p:nvPr/>
          </p:nvCxnSpPr>
          <p:spPr>
            <a:xfrm flipV="1">
              <a:off x="1343271" y="2910254"/>
              <a:ext cx="0" cy="6346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CuadroTexto 14"/>
            <p:cNvSpPr txBox="1"/>
            <p:nvPr/>
          </p:nvSpPr>
          <p:spPr>
            <a:xfrm>
              <a:off x="1541777" y="3265550"/>
              <a:ext cx="1595902" cy="307777"/>
            </a:xfrm>
            <a:prstGeom prst="rect">
              <a:avLst/>
            </a:prstGeom>
            <a:noFill/>
          </p:spPr>
          <p:txBody>
            <a:bodyPr wrap="square" rtlCol="0">
              <a:spAutoFit/>
            </a:bodyPr>
            <a:lstStyle/>
            <a:p>
              <a:r>
                <a:rPr lang="es-CO" sz="1400" dirty="0"/>
                <a:t>No aprobado</a:t>
              </a:r>
            </a:p>
          </p:txBody>
        </p:sp>
        <p:cxnSp>
          <p:nvCxnSpPr>
            <p:cNvPr id="17" name="Conector recto de flecha 16"/>
            <p:cNvCxnSpPr/>
            <p:nvPr/>
          </p:nvCxnSpPr>
          <p:spPr>
            <a:xfrm flipV="1">
              <a:off x="5212909" y="2524473"/>
              <a:ext cx="1009388" cy="53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CuadroTexto 17"/>
            <p:cNvSpPr txBox="1"/>
            <p:nvPr/>
          </p:nvSpPr>
          <p:spPr>
            <a:xfrm>
              <a:off x="5179872" y="2159126"/>
              <a:ext cx="1251142" cy="307777"/>
            </a:xfrm>
            <a:prstGeom prst="rect">
              <a:avLst/>
            </a:prstGeom>
            <a:noFill/>
          </p:spPr>
          <p:txBody>
            <a:bodyPr wrap="square" rtlCol="0">
              <a:spAutoFit/>
            </a:bodyPr>
            <a:lstStyle/>
            <a:p>
              <a:r>
                <a:rPr lang="es-CO" sz="1400" dirty="0"/>
                <a:t>aprobado</a:t>
              </a:r>
            </a:p>
          </p:txBody>
        </p:sp>
        <p:sp>
          <p:nvSpPr>
            <p:cNvPr id="21" name="Rectángulo 20"/>
            <p:cNvSpPr/>
            <p:nvPr/>
          </p:nvSpPr>
          <p:spPr>
            <a:xfrm>
              <a:off x="6340591" y="2302211"/>
              <a:ext cx="2475796" cy="710597"/>
            </a:xfrm>
            <a:prstGeom prst="rect">
              <a:avLst/>
            </a:prstGeom>
            <a:gradFill flip="none" rotWithShape="1">
              <a:gsLst>
                <a:gs pos="0">
                  <a:srgbClr val="FF9999">
                    <a:shade val="30000"/>
                    <a:satMod val="115000"/>
                  </a:srgbClr>
                </a:gs>
                <a:gs pos="50000">
                  <a:srgbClr val="FF9999">
                    <a:shade val="67500"/>
                    <a:satMod val="115000"/>
                  </a:srgbClr>
                </a:gs>
                <a:gs pos="100000">
                  <a:srgbClr val="FF9999">
                    <a:shade val="100000"/>
                    <a:satMod val="115000"/>
                  </a:srgbClr>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tx1"/>
                  </a:solidFill>
                  <a:effectLst>
                    <a:outerShdw blurRad="38100" dist="19050" dir="2700000" algn="tl" rotWithShape="0">
                      <a:schemeClr val="dk1">
                        <a:alpha val="40000"/>
                      </a:schemeClr>
                    </a:outerShdw>
                  </a:effectLst>
                </a:rPr>
                <a:t>FIRMAS DE CONTRATOS, COMPRAS DE PÓLIZAS</a:t>
              </a:r>
              <a:endParaRPr lang="es-CO" sz="1600" dirty="0">
                <a:ln w="0"/>
                <a:solidFill>
                  <a:schemeClr val="tx1"/>
                </a:solidFill>
                <a:effectLst>
                  <a:outerShdw blurRad="38100" dist="19050" dir="2700000" algn="tl" rotWithShape="0">
                    <a:schemeClr val="dk1">
                      <a:alpha val="40000"/>
                    </a:schemeClr>
                  </a:outerShdw>
                </a:effectLst>
              </a:endParaRPr>
            </a:p>
          </p:txBody>
        </p:sp>
        <p:sp>
          <p:nvSpPr>
            <p:cNvPr id="26" name="Flecha abajo 25"/>
            <p:cNvSpPr/>
            <p:nvPr/>
          </p:nvSpPr>
          <p:spPr>
            <a:xfrm>
              <a:off x="7302417" y="3101066"/>
              <a:ext cx="144016" cy="72008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20" name="Rectángulo 19">
            <a:extLst>
              <a:ext uri="{FF2B5EF4-FFF2-40B4-BE49-F238E27FC236}">
                <a16:creationId xmlns:a16="http://schemas.microsoft.com/office/drawing/2014/main" id="{6668D6BC-6963-4A41-82A0-DF12974451EB}"/>
              </a:ext>
            </a:extLst>
          </p:cNvPr>
          <p:cNvSpPr/>
          <p:nvPr/>
        </p:nvSpPr>
        <p:spPr>
          <a:xfrm>
            <a:off x="4279283" y="6415151"/>
            <a:ext cx="5976664" cy="2811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n w="0"/>
                <a:solidFill>
                  <a:schemeClr val="tx1"/>
                </a:solidFill>
                <a:effectLst>
                  <a:outerShdw blurRad="38100" dist="19050" dir="2700000" algn="tl" rotWithShape="0">
                    <a:schemeClr val="dk1">
                      <a:alpha val="40000"/>
                    </a:schemeClr>
                  </a:outerShdw>
                </a:effectLst>
              </a:rPr>
              <a:t>ADMINISTRACIÓN DE PROYECTOS</a:t>
            </a:r>
            <a:endParaRPr lang="es-CO" sz="1600" dirty="0">
              <a:ln w="0"/>
              <a:solidFill>
                <a:schemeClr val="tx1"/>
              </a:solidFill>
              <a:effectLst>
                <a:outerShdw blurRad="38100" dist="19050" dir="2700000" algn="tl" rotWithShape="0">
                  <a:schemeClr val="dk1">
                    <a:alpha val="40000"/>
                  </a:schemeClr>
                </a:outerShdw>
              </a:effectLst>
            </a:endParaRPr>
          </a:p>
        </p:txBody>
      </p:sp>
      <p:graphicFrame>
        <p:nvGraphicFramePr>
          <p:cNvPr id="22" name="Diagrama 21">
            <a:extLst>
              <a:ext uri="{FF2B5EF4-FFF2-40B4-BE49-F238E27FC236}">
                <a16:creationId xmlns:a16="http://schemas.microsoft.com/office/drawing/2014/main" id="{FE5D0747-FA81-4B10-BC62-EC16E629649C}"/>
              </a:ext>
            </a:extLst>
          </p:cNvPr>
          <p:cNvGraphicFramePr/>
          <p:nvPr>
            <p:extLst/>
          </p:nvPr>
        </p:nvGraphicFramePr>
        <p:xfrm>
          <a:off x="3974650" y="5200056"/>
          <a:ext cx="6579754" cy="137259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3" name="Imagen 22">
            <a:extLst>
              <a:ext uri="{FF2B5EF4-FFF2-40B4-BE49-F238E27FC236}">
                <a16:creationId xmlns:a16="http://schemas.microsoft.com/office/drawing/2014/main" id="{B35A28FF-0752-46CE-BE96-F57B16FFD039}"/>
              </a:ext>
            </a:extLst>
          </p:cNvPr>
          <p:cNvPicPr>
            <a:picLocks noChangeAspect="1"/>
          </p:cNvPicPr>
          <p:nvPr/>
        </p:nvPicPr>
        <p:blipFill>
          <a:blip r:embed="rId9"/>
          <a:stretch>
            <a:fillRect/>
          </a:stretch>
        </p:blipFill>
        <p:spPr>
          <a:xfrm>
            <a:off x="4556588" y="3908767"/>
            <a:ext cx="5538735" cy="1064175"/>
          </a:xfrm>
          <a:prstGeom prst="rect">
            <a:avLst/>
          </a:prstGeom>
        </p:spPr>
      </p:pic>
      <p:sp>
        <p:nvSpPr>
          <p:cNvPr id="24" name="Cerrar llave 23">
            <a:extLst>
              <a:ext uri="{FF2B5EF4-FFF2-40B4-BE49-F238E27FC236}">
                <a16:creationId xmlns:a16="http://schemas.microsoft.com/office/drawing/2014/main" id="{B6DF2CE2-C69D-4DD2-9BD4-D1B9438D1D9F}"/>
              </a:ext>
            </a:extLst>
          </p:cNvPr>
          <p:cNvSpPr/>
          <p:nvPr/>
        </p:nvSpPr>
        <p:spPr>
          <a:xfrm rot="16200000">
            <a:off x="7096971" y="3051942"/>
            <a:ext cx="104477" cy="4806354"/>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cxnSp>
        <p:nvCxnSpPr>
          <p:cNvPr id="27" name="Conector recto de flecha 26">
            <a:extLst>
              <a:ext uri="{FF2B5EF4-FFF2-40B4-BE49-F238E27FC236}">
                <a16:creationId xmlns:a16="http://schemas.microsoft.com/office/drawing/2014/main" id="{624A2F55-CB83-408C-80D9-24B61A37F70E}"/>
              </a:ext>
            </a:extLst>
          </p:cNvPr>
          <p:cNvCxnSpPr>
            <a:stCxn id="24" idx="1"/>
          </p:cNvCxnSpPr>
          <p:nvPr/>
        </p:nvCxnSpPr>
        <p:spPr>
          <a:xfrm flipH="1" flipV="1">
            <a:off x="5375921" y="5013177"/>
            <a:ext cx="1773289" cy="3897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4FAC6CAD-F0BE-452B-8558-7BB62156D2D6}"/>
              </a:ext>
            </a:extLst>
          </p:cNvPr>
          <p:cNvCxnSpPr>
            <a:stCxn id="24" idx="1"/>
          </p:cNvCxnSpPr>
          <p:nvPr/>
        </p:nvCxnSpPr>
        <p:spPr>
          <a:xfrm flipH="1" flipV="1">
            <a:off x="6600057" y="4972941"/>
            <a:ext cx="549153" cy="4299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16F1A5E5-5FCE-488A-9C05-84A5053CFCFC}"/>
              </a:ext>
            </a:extLst>
          </p:cNvPr>
          <p:cNvCxnSpPr>
            <a:cxnSpLocks/>
          </p:cNvCxnSpPr>
          <p:nvPr/>
        </p:nvCxnSpPr>
        <p:spPr>
          <a:xfrm flipV="1">
            <a:off x="7149210" y="4992134"/>
            <a:ext cx="458959" cy="3897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A640BB06-32DE-4E01-A557-D3014C94CC1B}"/>
              </a:ext>
            </a:extLst>
          </p:cNvPr>
          <p:cNvCxnSpPr/>
          <p:nvPr/>
        </p:nvCxnSpPr>
        <p:spPr>
          <a:xfrm flipV="1">
            <a:off x="7149210" y="5013177"/>
            <a:ext cx="2187151" cy="3897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3704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 Grupo"/>
          <p:cNvGrpSpPr>
            <a:grpSpLocks/>
          </p:cNvGrpSpPr>
          <p:nvPr/>
        </p:nvGrpSpPr>
        <p:grpSpPr bwMode="auto">
          <a:xfrm>
            <a:off x="1415480" y="0"/>
            <a:ext cx="9252520" cy="6971298"/>
            <a:chOff x="-142908" y="72432"/>
            <a:chExt cx="9252553" cy="6970528"/>
          </a:xfrm>
        </p:grpSpPr>
        <p:pic>
          <p:nvPicPr>
            <p:cNvPr id="6" name="3 Imagen" descr="Imagen2.jpg"/>
            <p:cNvPicPr>
              <a:picLocks noChangeAspect="1"/>
            </p:cNvPicPr>
            <p:nvPr/>
          </p:nvPicPr>
          <p:blipFill>
            <a:blip r:embed="rId2" cstate="print"/>
            <a:srcRect b="4166"/>
            <a:stretch>
              <a:fillRect/>
            </a:stretch>
          </p:blipFill>
          <p:spPr bwMode="auto">
            <a:xfrm>
              <a:off x="-34355" y="72432"/>
              <a:ext cx="9144000" cy="6858000"/>
            </a:xfrm>
            <a:prstGeom prst="rect">
              <a:avLst/>
            </a:prstGeom>
            <a:noFill/>
            <a:ln w="9525">
              <a:noFill/>
              <a:miter lim="800000"/>
              <a:headEnd/>
              <a:tailEnd/>
            </a:ln>
          </p:spPr>
        </p:pic>
        <p:pic>
          <p:nvPicPr>
            <p:cNvPr id="7"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31" name="2 Título"/>
          <p:cNvSpPr>
            <a:spLocks noGrp="1"/>
          </p:cNvSpPr>
          <p:nvPr>
            <p:ph type="title"/>
          </p:nvPr>
        </p:nvSpPr>
        <p:spPr>
          <a:xfrm>
            <a:off x="2045368" y="322764"/>
            <a:ext cx="8229600" cy="1143000"/>
          </a:xfrm>
        </p:spPr>
        <p:txBody>
          <a:bodyPr>
            <a:normAutofit/>
          </a:bodyPr>
          <a:lstStyle/>
          <a:p>
            <a:pPr algn="ctr"/>
            <a:r>
              <a:rPr lang="es-CO" b="1" dirty="0">
                <a:solidFill>
                  <a:schemeClr val="bg1"/>
                </a:solidFill>
              </a:rPr>
              <a:t>CICLO DE VIDA DE LOS PROYECTOS</a:t>
            </a:r>
          </a:p>
        </p:txBody>
      </p:sp>
      <p:pic>
        <p:nvPicPr>
          <p:cNvPr id="32" name="Imagen 31"/>
          <p:cNvPicPr>
            <a:picLocks noChangeAspect="1"/>
          </p:cNvPicPr>
          <p:nvPr/>
        </p:nvPicPr>
        <p:blipFill>
          <a:blip r:embed="rId4"/>
          <a:stretch>
            <a:fillRect/>
          </a:stretch>
        </p:blipFill>
        <p:spPr>
          <a:xfrm>
            <a:off x="1767680" y="2999020"/>
            <a:ext cx="3168352" cy="2895896"/>
          </a:xfrm>
          <a:prstGeom prst="rect">
            <a:avLst/>
          </a:prstGeom>
        </p:spPr>
      </p:pic>
      <p:sp>
        <p:nvSpPr>
          <p:cNvPr id="33" name="CuadroTexto 32"/>
          <p:cNvSpPr txBox="1"/>
          <p:nvPr/>
        </p:nvSpPr>
        <p:spPr>
          <a:xfrm>
            <a:off x="1774039" y="2111898"/>
            <a:ext cx="8532408" cy="584775"/>
          </a:xfrm>
          <a:prstGeom prst="rect">
            <a:avLst/>
          </a:prstGeom>
          <a:noFill/>
        </p:spPr>
        <p:txBody>
          <a:bodyPr wrap="square" rtlCol="0">
            <a:spAutoFit/>
          </a:bodyPr>
          <a:lstStyle/>
          <a:p>
            <a:pPr algn="just"/>
            <a:r>
              <a:rPr lang="es-CO" sz="1600" dirty="0"/>
              <a:t>El ciclo de vida de un proyecto es la serie de fases que atraviesa un proyecto desde su inicio hasta su conclusión. (PMBOK 6, pág. 55) </a:t>
            </a:r>
          </a:p>
        </p:txBody>
      </p:sp>
      <p:grpSp>
        <p:nvGrpSpPr>
          <p:cNvPr id="34" name="Grupo 33">
            <a:extLst>
              <a:ext uri="{FF2B5EF4-FFF2-40B4-BE49-F238E27FC236}">
                <a16:creationId xmlns:a16="http://schemas.microsoft.com/office/drawing/2014/main" id="{8BFF26B7-546A-44E2-8463-EEFABCA44720}"/>
              </a:ext>
            </a:extLst>
          </p:cNvPr>
          <p:cNvGrpSpPr/>
          <p:nvPr/>
        </p:nvGrpSpPr>
        <p:grpSpPr>
          <a:xfrm>
            <a:off x="5053836" y="3211636"/>
            <a:ext cx="5498820" cy="2954263"/>
            <a:chOff x="3453129" y="3461175"/>
            <a:chExt cx="5498820" cy="2954263"/>
          </a:xfrm>
        </p:grpSpPr>
        <p:pic>
          <p:nvPicPr>
            <p:cNvPr id="35" name="Imagen 34">
              <a:extLst>
                <a:ext uri="{FF2B5EF4-FFF2-40B4-BE49-F238E27FC236}">
                  <a16:creationId xmlns:a16="http://schemas.microsoft.com/office/drawing/2014/main" id="{579E3898-9882-4AFF-90A0-12CD4AF9ED7F}"/>
                </a:ext>
              </a:extLst>
            </p:cNvPr>
            <p:cNvPicPr>
              <a:picLocks noChangeAspect="1"/>
            </p:cNvPicPr>
            <p:nvPr/>
          </p:nvPicPr>
          <p:blipFill>
            <a:blip r:embed="rId5"/>
            <a:stretch>
              <a:fillRect/>
            </a:stretch>
          </p:blipFill>
          <p:spPr>
            <a:xfrm>
              <a:off x="3727539" y="4088073"/>
              <a:ext cx="5082704" cy="1403721"/>
            </a:xfrm>
            <a:prstGeom prst="rect">
              <a:avLst/>
            </a:prstGeom>
          </p:spPr>
        </p:pic>
        <p:sp>
          <p:nvSpPr>
            <p:cNvPr id="36" name="CuadroTexto 35">
              <a:extLst>
                <a:ext uri="{FF2B5EF4-FFF2-40B4-BE49-F238E27FC236}">
                  <a16:creationId xmlns:a16="http://schemas.microsoft.com/office/drawing/2014/main" id="{5485017F-15D6-45CD-BC16-5F0F73548B1E}"/>
                </a:ext>
              </a:extLst>
            </p:cNvPr>
            <p:cNvSpPr txBox="1"/>
            <p:nvPr/>
          </p:nvSpPr>
          <p:spPr>
            <a:xfrm>
              <a:off x="3680191" y="5676774"/>
              <a:ext cx="5271758" cy="738664"/>
            </a:xfrm>
            <a:prstGeom prst="rect">
              <a:avLst/>
            </a:prstGeom>
            <a:noFill/>
          </p:spPr>
          <p:txBody>
            <a:bodyPr wrap="square" rtlCol="0">
              <a:spAutoFit/>
            </a:bodyPr>
            <a:lstStyle/>
            <a:p>
              <a:pPr algn="just"/>
              <a:r>
                <a:rPr lang="es-MX" sz="1400" dirty="0"/>
                <a:t>Los ciclos de vida para un proyecto varían según la industria, tipo de proyecto, restricciones, cultura organizacional entre otros. (Lledó 6.0)</a:t>
              </a:r>
              <a:endParaRPr lang="es-CO" sz="1400" dirty="0"/>
            </a:p>
          </p:txBody>
        </p:sp>
        <p:sp>
          <p:nvSpPr>
            <p:cNvPr id="37" name="Flecha: a la derecha 10">
              <a:extLst>
                <a:ext uri="{FF2B5EF4-FFF2-40B4-BE49-F238E27FC236}">
                  <a16:creationId xmlns:a16="http://schemas.microsoft.com/office/drawing/2014/main" id="{C2E76C2E-5A77-47F6-A42E-F2A83A9AEBCB}"/>
                </a:ext>
              </a:extLst>
            </p:cNvPr>
            <p:cNvSpPr/>
            <p:nvPr/>
          </p:nvSpPr>
          <p:spPr>
            <a:xfrm>
              <a:off x="3453129" y="4625853"/>
              <a:ext cx="227062"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CuadroTexto 37">
              <a:extLst>
                <a:ext uri="{FF2B5EF4-FFF2-40B4-BE49-F238E27FC236}">
                  <a16:creationId xmlns:a16="http://schemas.microsoft.com/office/drawing/2014/main" id="{339C5C95-E6A1-4923-A54B-CAB7F255CFBA}"/>
                </a:ext>
              </a:extLst>
            </p:cNvPr>
            <p:cNvSpPr txBox="1"/>
            <p:nvPr/>
          </p:nvSpPr>
          <p:spPr>
            <a:xfrm>
              <a:off x="3727539" y="3461175"/>
              <a:ext cx="5082704" cy="523220"/>
            </a:xfrm>
            <a:prstGeom prst="rect">
              <a:avLst/>
            </a:prstGeom>
            <a:noFill/>
          </p:spPr>
          <p:txBody>
            <a:bodyPr wrap="square" rtlCol="0">
              <a:spAutoFit/>
            </a:bodyPr>
            <a:lstStyle/>
            <a:p>
              <a:r>
                <a:rPr lang="es-MX" sz="1400" dirty="0"/>
                <a:t>Por lo general existen dos tipos de interrelación entre las fases de un proyecto: </a:t>
              </a:r>
              <a:endParaRPr lang="es-CO" sz="1400" dirty="0"/>
            </a:p>
          </p:txBody>
        </p:sp>
      </p:grpSp>
    </p:spTree>
    <p:extLst>
      <p:ext uri="{BB962C8B-B14F-4D97-AF65-F5344CB8AC3E}">
        <p14:creationId xmlns:p14="http://schemas.microsoft.com/office/powerpoint/2010/main" val="27530086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31" name="2 Grupo"/>
          <p:cNvGrpSpPr>
            <a:grpSpLocks/>
          </p:cNvGrpSpPr>
          <p:nvPr/>
        </p:nvGrpSpPr>
        <p:grpSpPr bwMode="auto">
          <a:xfrm>
            <a:off x="1381126" y="-11749"/>
            <a:ext cx="9286875" cy="7043738"/>
            <a:chOff x="-142908" y="0"/>
            <a:chExt cx="9286908" cy="7042960"/>
          </a:xfrm>
        </p:grpSpPr>
        <p:pic>
          <p:nvPicPr>
            <p:cNvPr id="32"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33"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8" name="2 Título"/>
          <p:cNvSpPr txBox="1">
            <a:spLocks/>
          </p:cNvSpPr>
          <p:nvPr/>
        </p:nvSpPr>
        <p:spPr>
          <a:xfrm>
            <a:off x="1852863" y="146301"/>
            <a:ext cx="8229600" cy="11430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b="1" dirty="0" smtClean="0">
                <a:solidFill>
                  <a:schemeClr val="bg1"/>
                </a:solidFill>
              </a:rPr>
              <a:t>CICLO DE VIDA DE LOS PROYECTOS</a:t>
            </a:r>
            <a:endParaRPr lang="es-CO" b="1" dirty="0">
              <a:solidFill>
                <a:schemeClr val="bg1"/>
              </a:solidFill>
            </a:endParaRPr>
          </a:p>
        </p:txBody>
      </p:sp>
      <p:sp>
        <p:nvSpPr>
          <p:cNvPr id="10" name="CuadroTexto 9"/>
          <p:cNvSpPr txBox="1"/>
          <p:nvPr/>
        </p:nvSpPr>
        <p:spPr>
          <a:xfrm>
            <a:off x="6111679" y="6324999"/>
            <a:ext cx="3970784" cy="369332"/>
          </a:xfrm>
          <a:prstGeom prst="rect">
            <a:avLst/>
          </a:prstGeom>
          <a:noFill/>
        </p:spPr>
        <p:txBody>
          <a:bodyPr wrap="square" rtlCol="0">
            <a:spAutoFit/>
          </a:bodyPr>
          <a:lstStyle/>
          <a:p>
            <a:r>
              <a:rPr lang="es-CO" dirty="0"/>
              <a:t>FTE:  PMI-PMBOK 6</a:t>
            </a:r>
          </a:p>
        </p:txBody>
      </p:sp>
      <p:graphicFrame>
        <p:nvGraphicFramePr>
          <p:cNvPr id="11" name="Tabla 10">
            <a:extLst>
              <a:ext uri="{FF2B5EF4-FFF2-40B4-BE49-F238E27FC236}">
                <a16:creationId xmlns:a16="http://schemas.microsoft.com/office/drawing/2014/main" id="{AD687C28-ECF8-4298-93D6-A3405FF5F2B3}"/>
              </a:ext>
            </a:extLst>
          </p:cNvPr>
          <p:cNvGraphicFramePr>
            <a:graphicFrameLocks noGrp="1"/>
          </p:cNvGraphicFramePr>
          <p:nvPr>
            <p:extLst>
              <p:ext uri="{D42A27DB-BD31-4B8C-83A1-F6EECF244321}">
                <p14:modId xmlns:p14="http://schemas.microsoft.com/office/powerpoint/2010/main" val="1078263797"/>
              </p:ext>
            </p:extLst>
          </p:nvPr>
        </p:nvGraphicFramePr>
        <p:xfrm>
          <a:off x="1760891" y="2179404"/>
          <a:ext cx="8629568" cy="4160520"/>
        </p:xfrm>
        <a:graphic>
          <a:graphicData uri="http://schemas.openxmlformats.org/drawingml/2006/table">
            <a:tbl>
              <a:tblPr firstRow="1" bandRow="1">
                <a:tableStyleId>{E8B1032C-EA38-4F05-BA0D-38AFFFC7BED3}</a:tableStyleId>
              </a:tblPr>
              <a:tblGrid>
                <a:gridCol w="2051720">
                  <a:extLst>
                    <a:ext uri="{9D8B030D-6E8A-4147-A177-3AD203B41FA5}">
                      <a16:colId xmlns:a16="http://schemas.microsoft.com/office/drawing/2014/main" val="944646025"/>
                    </a:ext>
                  </a:extLst>
                </a:gridCol>
                <a:gridCol w="6577848">
                  <a:extLst>
                    <a:ext uri="{9D8B030D-6E8A-4147-A177-3AD203B41FA5}">
                      <a16:colId xmlns:a16="http://schemas.microsoft.com/office/drawing/2014/main" val="3417816389"/>
                    </a:ext>
                  </a:extLst>
                </a:gridCol>
              </a:tblGrid>
              <a:tr h="619269">
                <a:tc>
                  <a:txBody>
                    <a:bodyPr/>
                    <a:lstStyle/>
                    <a:p>
                      <a:r>
                        <a:rPr lang="es-CO" dirty="0"/>
                        <a:t>PREDICTIVOS</a:t>
                      </a:r>
                    </a:p>
                  </a:txBody>
                  <a:tcPr/>
                </a:tc>
                <a:tc>
                  <a:txBody>
                    <a:bodyPr/>
                    <a:lstStyle/>
                    <a:p>
                      <a:r>
                        <a:rPr lang="es-MX" sz="1300" b="0" kern="1200" dirty="0" smtClean="0">
                          <a:solidFill>
                            <a:schemeClr val="tx1"/>
                          </a:solidFill>
                          <a:latin typeface="+mn-lt"/>
                          <a:ea typeface="+mn-ea"/>
                          <a:cs typeface="+mn-cs"/>
                        </a:rPr>
                        <a:t>Es un modelo donde el alcance se define completamente al inicio del proyecto y el trabajo se ejecuta de forma secuencial.   Características:</a:t>
                      </a:r>
                      <a:r>
                        <a:rPr lang="es-MX" sz="1300" b="0" kern="1200" baseline="0" dirty="0" smtClean="0">
                          <a:solidFill>
                            <a:schemeClr val="tx1"/>
                          </a:solidFill>
                          <a:latin typeface="+mn-lt"/>
                          <a:ea typeface="+mn-ea"/>
                          <a:cs typeface="+mn-cs"/>
                        </a:rPr>
                        <a:t>  </a:t>
                      </a:r>
                      <a:r>
                        <a:rPr lang="es-MX" sz="1400" b="0" dirty="0" smtClean="0"/>
                        <a:t>El alcance está claramente definido desde el inicio. Producto no cambia fácilmente y deben pasar por control formal. Entregas suelen realizarse al final del proyecto y Alta documentación. </a:t>
                      </a:r>
                      <a:endParaRPr lang="es-CO" sz="1300" b="0" kern="1200" dirty="0">
                        <a:solidFill>
                          <a:schemeClr val="tx1"/>
                        </a:solidFill>
                        <a:latin typeface="+mn-lt"/>
                        <a:ea typeface="+mn-ea"/>
                        <a:cs typeface="+mn-cs"/>
                      </a:endParaRPr>
                    </a:p>
                  </a:txBody>
                  <a:tcPr/>
                </a:tc>
                <a:extLst>
                  <a:ext uri="{0D108BD9-81ED-4DB2-BD59-A6C34878D82A}">
                    <a16:rowId xmlns:a16="http://schemas.microsoft.com/office/drawing/2014/main" val="1862138802"/>
                  </a:ext>
                </a:extLst>
              </a:tr>
              <a:tr h="619269">
                <a:tc>
                  <a:txBody>
                    <a:bodyPr/>
                    <a:lstStyle/>
                    <a:p>
                      <a:r>
                        <a:rPr lang="es-CO" b="1" dirty="0"/>
                        <a:t>ADAPTATIVOS</a:t>
                      </a:r>
                    </a:p>
                  </a:txBody>
                  <a:tcPr/>
                </a:tc>
                <a:tc>
                  <a:txBody>
                    <a:bodyPr/>
                    <a:lstStyle/>
                    <a:p>
                      <a:pPr algn="just"/>
                      <a:r>
                        <a:rPr lang="es-MX" sz="1400" dirty="0" smtClean="0"/>
                        <a:t>Es un modelo </a:t>
                      </a:r>
                      <a:r>
                        <a:rPr lang="es-MX" sz="1400" b="0" dirty="0" smtClean="0"/>
                        <a:t>donde el alcance evoluciona progresivamente, y el proyecto se desarrolla mediante iteraciones cortas, con retroalimentación constante del cliente.  Características:  El alcance no está completamente definido al inicio. Cambios son esperados y bienvenidos. Entregas frecuentes e incrementales. </a:t>
                      </a:r>
                      <a:r>
                        <a:rPr lang="es-MX" sz="1400" dirty="0" smtClean="0"/>
                        <a:t>Alta colaboración con el cliente.</a:t>
                      </a:r>
                      <a:endParaRPr lang="es-CO" sz="1300" b="1" dirty="0" smtClean="0"/>
                    </a:p>
                    <a:p>
                      <a:pPr marL="0" marR="0" lvl="0" indent="0" algn="just" defTabSz="914400" rtl="0" eaLnBrk="1" fontAlgn="auto" latinLnBrk="0" hangingPunct="1">
                        <a:lnSpc>
                          <a:spcPct val="100000"/>
                        </a:lnSpc>
                        <a:spcBef>
                          <a:spcPts val="0"/>
                        </a:spcBef>
                        <a:spcAft>
                          <a:spcPts val="0"/>
                        </a:spcAft>
                        <a:buClrTx/>
                        <a:buSzTx/>
                        <a:buFontTx/>
                        <a:buNone/>
                        <a:tabLst/>
                        <a:defRPr/>
                      </a:pPr>
                      <a:r>
                        <a:rPr lang="es-CO" sz="1300" b="1" dirty="0" smtClean="0"/>
                        <a:t>Iterativo</a:t>
                      </a:r>
                      <a:r>
                        <a:rPr lang="es-CO" sz="1300" b="1" dirty="0"/>
                        <a:t>: </a:t>
                      </a:r>
                      <a:r>
                        <a:rPr lang="es-CO" sz="1300" dirty="0"/>
                        <a:t>El alcance del proyecto se determina tempranamente en el CV del proyecto, pero las estimaciones de tiempo y costo se modifican periódicamente conforme aumenta la comprensión del producto por parte del equipo del proyecto.</a:t>
                      </a:r>
                    </a:p>
                    <a:p>
                      <a:pPr marL="0" marR="0" lvl="0" indent="0" algn="just" defTabSz="914400" rtl="0" eaLnBrk="1" fontAlgn="auto" latinLnBrk="0" hangingPunct="1">
                        <a:lnSpc>
                          <a:spcPct val="100000"/>
                        </a:lnSpc>
                        <a:spcBef>
                          <a:spcPts val="0"/>
                        </a:spcBef>
                        <a:spcAft>
                          <a:spcPts val="0"/>
                        </a:spcAft>
                        <a:buClrTx/>
                        <a:buSzTx/>
                        <a:buFontTx/>
                        <a:buNone/>
                        <a:tabLst/>
                        <a:defRPr/>
                      </a:pPr>
                      <a:r>
                        <a:rPr lang="es-CO" sz="1300" b="1" dirty="0"/>
                        <a:t>Incremental: </a:t>
                      </a:r>
                      <a:r>
                        <a:rPr lang="es-CO" sz="1300" dirty="0"/>
                        <a:t>El entregable se produce a través de una serie de iteraciones que sucesivamente añaden funcionalidad dentro de un marco de tiempo predeterminado.  Se considera completo sólo</a:t>
                      </a:r>
                      <a:r>
                        <a:rPr lang="es-CO" sz="1300" baseline="0" dirty="0"/>
                        <a:t> después de la iteración final</a:t>
                      </a:r>
                      <a:r>
                        <a:rPr lang="es-CO" sz="1300" baseline="0" dirty="0" smtClean="0"/>
                        <a:t>.</a:t>
                      </a:r>
                      <a:endParaRPr lang="es-CO" sz="1300" dirty="0" smtClean="0"/>
                    </a:p>
                    <a:p>
                      <a:pPr algn="just"/>
                      <a:endParaRPr lang="es-CO" sz="1300" b="1" dirty="0"/>
                    </a:p>
                  </a:txBody>
                  <a:tcPr/>
                </a:tc>
                <a:extLst>
                  <a:ext uri="{0D108BD9-81ED-4DB2-BD59-A6C34878D82A}">
                    <a16:rowId xmlns:a16="http://schemas.microsoft.com/office/drawing/2014/main" val="1262434716"/>
                  </a:ext>
                </a:extLst>
              </a:tr>
              <a:tr h="619269">
                <a:tc>
                  <a:txBody>
                    <a:bodyPr/>
                    <a:lstStyle/>
                    <a:p>
                      <a:r>
                        <a:rPr lang="es-CO" b="1" dirty="0"/>
                        <a:t>HIBRIDOS</a:t>
                      </a:r>
                    </a:p>
                  </a:txBody>
                  <a:tcPr/>
                </a:tc>
                <a:tc>
                  <a:txBody>
                    <a:bodyPr/>
                    <a:lstStyle/>
                    <a:p>
                      <a:pPr algn="just"/>
                      <a:r>
                        <a:rPr lang="es-CO" sz="1300" dirty="0"/>
                        <a:t>Es una combinación de un cv predictivo y uno adaptativo. Aquellos elementos del proyecto que son bien conocidos siguen un cv predictivo del desarrollo</a:t>
                      </a:r>
                      <a:r>
                        <a:rPr lang="es-CO" sz="1300" baseline="0" dirty="0"/>
                        <a:t> </a:t>
                      </a:r>
                      <a:r>
                        <a:rPr lang="es-CO" sz="1300" dirty="0"/>
                        <a:t> y aquellos sujetos</a:t>
                      </a:r>
                      <a:r>
                        <a:rPr lang="es-CO" sz="1300" baseline="0" dirty="0"/>
                        <a:t> al cambio siguen un cv de desarrollo adaptativo</a:t>
                      </a:r>
                      <a:r>
                        <a:rPr lang="es-CO" sz="1300" baseline="0" dirty="0" smtClean="0"/>
                        <a:t>.</a:t>
                      </a:r>
                      <a:endParaRPr lang="es-CO" sz="1300" dirty="0"/>
                    </a:p>
                  </a:txBody>
                  <a:tcPr/>
                </a:tc>
                <a:extLst>
                  <a:ext uri="{0D108BD9-81ED-4DB2-BD59-A6C34878D82A}">
                    <a16:rowId xmlns:a16="http://schemas.microsoft.com/office/drawing/2014/main" val="4020636497"/>
                  </a:ext>
                </a:extLst>
              </a:tr>
            </a:tbl>
          </a:graphicData>
        </a:graphic>
      </p:graphicFrame>
    </p:spTree>
    <p:extLst>
      <p:ext uri="{BB962C8B-B14F-4D97-AF65-F5344CB8AC3E}">
        <p14:creationId xmlns:p14="http://schemas.microsoft.com/office/powerpoint/2010/main" val="8081095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31" name="2 Grupo"/>
          <p:cNvGrpSpPr>
            <a:grpSpLocks/>
          </p:cNvGrpSpPr>
          <p:nvPr/>
        </p:nvGrpSpPr>
        <p:grpSpPr bwMode="auto">
          <a:xfrm>
            <a:off x="1381126" y="-11749"/>
            <a:ext cx="9286875" cy="7043738"/>
            <a:chOff x="-142908" y="0"/>
            <a:chExt cx="9286908" cy="7042960"/>
          </a:xfrm>
        </p:grpSpPr>
        <p:pic>
          <p:nvPicPr>
            <p:cNvPr id="32"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33"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8" name="2 Título"/>
          <p:cNvSpPr txBox="1">
            <a:spLocks/>
          </p:cNvSpPr>
          <p:nvPr/>
        </p:nvSpPr>
        <p:spPr>
          <a:xfrm>
            <a:off x="1852863" y="146301"/>
            <a:ext cx="8229600" cy="11430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b="1" dirty="0" smtClean="0">
                <a:solidFill>
                  <a:schemeClr val="bg1"/>
                </a:solidFill>
              </a:rPr>
              <a:t>CICLO DE VIDA DE LOS PROYECTOS</a:t>
            </a:r>
            <a:endParaRPr lang="es-CO" b="1" dirty="0">
              <a:solidFill>
                <a:schemeClr val="bg1"/>
              </a:solidFill>
            </a:endParaRPr>
          </a:p>
        </p:txBody>
      </p:sp>
      <p:sp>
        <p:nvSpPr>
          <p:cNvPr id="2" name="CuadroTexto 1"/>
          <p:cNvSpPr txBox="1"/>
          <p:nvPr/>
        </p:nvSpPr>
        <p:spPr>
          <a:xfrm>
            <a:off x="2377440" y="2942705"/>
            <a:ext cx="7489767" cy="461665"/>
          </a:xfrm>
          <a:prstGeom prst="rect">
            <a:avLst/>
          </a:prstGeom>
          <a:noFill/>
        </p:spPr>
        <p:txBody>
          <a:bodyPr wrap="square" rtlCol="0">
            <a:spAutoFit/>
          </a:bodyPr>
          <a:lstStyle/>
          <a:p>
            <a:r>
              <a:rPr lang="es-CO" sz="2400" b="1" dirty="0" smtClean="0"/>
              <a:t>TALLER 1: CICLO DE VIDA DE PROYECTO</a:t>
            </a:r>
            <a:endParaRPr lang="es-CO" sz="2400" b="1" dirty="0"/>
          </a:p>
        </p:txBody>
      </p:sp>
    </p:spTree>
    <p:extLst>
      <p:ext uri="{BB962C8B-B14F-4D97-AF65-F5344CB8AC3E}">
        <p14:creationId xmlns:p14="http://schemas.microsoft.com/office/powerpoint/2010/main" val="15401988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31" name="2 Grupo"/>
          <p:cNvGrpSpPr>
            <a:grpSpLocks/>
          </p:cNvGrpSpPr>
          <p:nvPr/>
        </p:nvGrpSpPr>
        <p:grpSpPr bwMode="auto">
          <a:xfrm>
            <a:off x="1381126" y="-11749"/>
            <a:ext cx="9286875" cy="7043738"/>
            <a:chOff x="-142908" y="0"/>
            <a:chExt cx="9286908" cy="7042960"/>
          </a:xfrm>
        </p:grpSpPr>
        <p:pic>
          <p:nvPicPr>
            <p:cNvPr id="32"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33"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34" name="2 Título"/>
          <p:cNvSpPr txBox="1">
            <a:spLocks/>
          </p:cNvSpPr>
          <p:nvPr/>
        </p:nvSpPr>
        <p:spPr>
          <a:xfrm>
            <a:off x="1251678" y="382385"/>
            <a:ext cx="10178322" cy="14921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dirty="0" smtClean="0">
                <a:solidFill>
                  <a:schemeClr val="bg1"/>
                </a:solidFill>
              </a:rPr>
              <a:t>GRUPO  DE PROCESOS DE GESTION DE INTEGRACION</a:t>
            </a:r>
            <a:endParaRPr lang="es-CO" dirty="0">
              <a:solidFill>
                <a:schemeClr val="bg1"/>
              </a:solidFill>
            </a:endParaRPr>
          </a:p>
        </p:txBody>
      </p:sp>
      <p:pic>
        <p:nvPicPr>
          <p:cNvPr id="35" name="Imagen 34"/>
          <p:cNvPicPr>
            <a:picLocks noChangeAspect="1"/>
          </p:cNvPicPr>
          <p:nvPr/>
        </p:nvPicPr>
        <p:blipFill>
          <a:blip r:embed="rId4"/>
          <a:stretch>
            <a:fillRect/>
          </a:stretch>
        </p:blipFill>
        <p:spPr>
          <a:xfrm>
            <a:off x="1561512" y="3047221"/>
            <a:ext cx="8626731" cy="2520280"/>
          </a:xfrm>
          <a:prstGeom prst="rect">
            <a:avLst/>
          </a:prstGeom>
        </p:spPr>
      </p:pic>
    </p:spTree>
    <p:extLst>
      <p:ext uri="{BB962C8B-B14F-4D97-AF65-F5344CB8AC3E}">
        <p14:creationId xmlns:p14="http://schemas.microsoft.com/office/powerpoint/2010/main" val="24367814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 Grupo"/>
          <p:cNvGrpSpPr>
            <a:grpSpLocks/>
          </p:cNvGrpSpPr>
          <p:nvPr/>
        </p:nvGrpSpPr>
        <p:grpSpPr bwMode="auto">
          <a:xfrm>
            <a:off x="1442218" y="0"/>
            <a:ext cx="9286875" cy="7043738"/>
            <a:chOff x="-142908" y="0"/>
            <a:chExt cx="9286908" cy="7042960"/>
          </a:xfrm>
        </p:grpSpPr>
        <p:pic>
          <p:nvPicPr>
            <p:cNvPr id="6"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7"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14" name="2 Título"/>
          <p:cNvSpPr>
            <a:spLocks noGrp="1"/>
          </p:cNvSpPr>
          <p:nvPr>
            <p:ph type="title"/>
          </p:nvPr>
        </p:nvSpPr>
        <p:spPr>
          <a:xfrm>
            <a:off x="1251678" y="382385"/>
            <a:ext cx="10178322" cy="1492132"/>
          </a:xfrm>
        </p:spPr>
        <p:txBody>
          <a:bodyPr>
            <a:normAutofit/>
          </a:bodyPr>
          <a:lstStyle/>
          <a:p>
            <a:pPr algn="ctr"/>
            <a:r>
              <a:rPr lang="es-CO" dirty="0">
                <a:solidFill>
                  <a:schemeClr val="bg1"/>
                </a:solidFill>
              </a:rPr>
              <a:t>GRUPO  DE PROCESOS DE GESTION DE INTEGRACION</a:t>
            </a:r>
          </a:p>
        </p:txBody>
      </p:sp>
      <p:sp>
        <p:nvSpPr>
          <p:cNvPr id="15" name="CuadroTexto 14"/>
          <p:cNvSpPr txBox="1"/>
          <p:nvPr/>
        </p:nvSpPr>
        <p:spPr>
          <a:xfrm>
            <a:off x="1981200" y="2423768"/>
            <a:ext cx="8208912" cy="2246769"/>
          </a:xfrm>
          <a:prstGeom prst="rect">
            <a:avLst/>
          </a:prstGeom>
          <a:noFill/>
        </p:spPr>
        <p:txBody>
          <a:bodyPr wrap="square" rtlCol="0">
            <a:spAutoFit/>
          </a:bodyPr>
          <a:lstStyle/>
          <a:p>
            <a:pPr algn="just"/>
            <a:r>
              <a:rPr lang="es-CO" sz="2800" dirty="0"/>
              <a:t>La Gestión de la Integración del Proyecto incluye los procesos y actividades para </a:t>
            </a:r>
            <a:r>
              <a:rPr lang="es-CO" sz="2800" b="1" i="1" dirty="0"/>
              <a:t>identificar, definir, combinar, unificar y coordinar</a:t>
            </a:r>
            <a:r>
              <a:rPr lang="es-CO" sz="2800" dirty="0"/>
              <a:t> los diversos procesos y actividades de dirección del proyecto dentro de los Grupos de Procesos de la Dirección de Proyectos.</a:t>
            </a:r>
          </a:p>
        </p:txBody>
      </p:sp>
    </p:spTree>
    <p:extLst>
      <p:ext uri="{BB962C8B-B14F-4D97-AF65-F5344CB8AC3E}">
        <p14:creationId xmlns:p14="http://schemas.microsoft.com/office/powerpoint/2010/main" val="28023997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4" name="2 Grupo"/>
          <p:cNvGrpSpPr>
            <a:grpSpLocks/>
          </p:cNvGrpSpPr>
          <p:nvPr/>
        </p:nvGrpSpPr>
        <p:grpSpPr bwMode="auto">
          <a:xfrm>
            <a:off x="1381126" y="-11749"/>
            <a:ext cx="9286875" cy="7043738"/>
            <a:chOff x="-142908" y="0"/>
            <a:chExt cx="9286908" cy="7042960"/>
          </a:xfrm>
        </p:grpSpPr>
        <p:pic>
          <p:nvPicPr>
            <p:cNvPr id="5"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7" name="Rectangle 2"/>
          <p:cNvSpPr txBox="1">
            <a:spLocks noChangeArrowheads="1"/>
          </p:cNvSpPr>
          <p:nvPr/>
        </p:nvSpPr>
        <p:spPr>
          <a:xfrm>
            <a:off x="1469740" y="430993"/>
            <a:ext cx="9721174" cy="11430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smtClean="0">
                <a:solidFill>
                  <a:schemeClr val="bg1"/>
                </a:solidFill>
                <a:latin typeface="Palatino Linotype" pitchFamily="18" charset="0"/>
              </a:rPr>
              <a:t>PROCESOS DE INICIACIÓN</a:t>
            </a:r>
            <a:r>
              <a:rPr lang="es-MX" sz="1800" b="1" dirty="0" smtClean="0">
                <a:solidFill>
                  <a:schemeClr val="bg1"/>
                </a:solidFill>
                <a:latin typeface="Palatino Linotype" pitchFamily="18" charset="0"/>
              </a:rPr>
              <a:t/>
            </a:r>
            <a:br>
              <a:rPr lang="es-MX" sz="1800" b="1" dirty="0" smtClean="0">
                <a:solidFill>
                  <a:schemeClr val="bg1"/>
                </a:solidFill>
                <a:latin typeface="Palatino Linotype" pitchFamily="18" charset="0"/>
              </a:rPr>
            </a:br>
            <a:r>
              <a:rPr lang="es-MX" sz="1800" b="1" dirty="0" smtClean="0">
                <a:solidFill>
                  <a:schemeClr val="bg1"/>
                </a:solidFill>
                <a:latin typeface="Palatino Linotype" pitchFamily="18" charset="0"/>
              </a:rPr>
              <a:t>4.1  Desarrollar  el Acta de Constitución del Proyecto</a:t>
            </a:r>
            <a:endParaRPr lang="es-MX" sz="1800" b="1" baseline="30000" dirty="0">
              <a:solidFill>
                <a:schemeClr val="bg1"/>
              </a:solidFill>
              <a:latin typeface="Verdana" pitchFamily="34" charset="0"/>
            </a:endParaRPr>
          </a:p>
        </p:txBody>
      </p:sp>
      <p:sp>
        <p:nvSpPr>
          <p:cNvPr id="8" name="Text Box 5"/>
          <p:cNvSpPr txBox="1">
            <a:spLocks noChangeArrowheads="1"/>
          </p:cNvSpPr>
          <p:nvPr/>
        </p:nvSpPr>
        <p:spPr bwMode="auto">
          <a:xfrm>
            <a:off x="1469740" y="2178024"/>
            <a:ext cx="8642350" cy="1463675"/>
          </a:xfrm>
          <a:prstGeom prst="rect">
            <a:avLst/>
          </a:prstGeom>
          <a:noFill/>
          <a:ln w="9525">
            <a:noFill/>
            <a:miter lim="800000"/>
            <a:headEnd/>
            <a:tailEnd/>
          </a:ln>
          <a:effectLst/>
        </p:spPr>
        <p:txBody>
          <a:bodyPr>
            <a:spAutoFit/>
          </a:bodyPr>
          <a:lstStyle/>
          <a:p>
            <a:pPr marL="342900" indent="-342900">
              <a:spcBef>
                <a:spcPct val="50000"/>
              </a:spcBef>
            </a:pPr>
            <a:r>
              <a:rPr lang="es-ES" sz="2000" b="1" dirty="0">
                <a:latin typeface="Palatino Linotype" pitchFamily="18" charset="0"/>
              </a:rPr>
              <a:t>Acta de constitución del proyecto</a:t>
            </a:r>
          </a:p>
          <a:p>
            <a:pPr marL="800100" lvl="1" indent="-342900">
              <a:spcBef>
                <a:spcPct val="50000"/>
              </a:spcBef>
              <a:buFont typeface="Wingdings" pitchFamily="2" charset="2"/>
              <a:buChar char="ü"/>
            </a:pPr>
            <a:r>
              <a:rPr lang="es-ES" sz="2000" dirty="0">
                <a:latin typeface="Palatino Linotype" pitchFamily="18" charset="0"/>
              </a:rPr>
              <a:t>Documento emitido por el iniciador o patrocinador del proyecto que autoriza formalmente un proyecto, y nombra al director de proyectos para gestionar  los recursos a las actividades del proyecto</a:t>
            </a:r>
          </a:p>
        </p:txBody>
      </p:sp>
      <p:pic>
        <p:nvPicPr>
          <p:cNvPr id="9" name="Imagen 8"/>
          <p:cNvPicPr>
            <a:picLocks noChangeAspect="1"/>
          </p:cNvPicPr>
          <p:nvPr/>
        </p:nvPicPr>
        <p:blipFill>
          <a:blip r:embed="rId4"/>
          <a:stretch>
            <a:fillRect/>
          </a:stretch>
        </p:blipFill>
        <p:spPr>
          <a:xfrm>
            <a:off x="2443259" y="3942826"/>
            <a:ext cx="6201618" cy="2484181"/>
          </a:xfrm>
          <a:prstGeom prst="rect">
            <a:avLst/>
          </a:prstGeom>
        </p:spPr>
      </p:pic>
    </p:spTree>
    <p:extLst>
      <p:ext uri="{BB962C8B-B14F-4D97-AF65-F5344CB8AC3E}">
        <p14:creationId xmlns:p14="http://schemas.microsoft.com/office/powerpoint/2010/main" val="10991163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4" name="2 Grupo"/>
          <p:cNvGrpSpPr>
            <a:grpSpLocks/>
          </p:cNvGrpSpPr>
          <p:nvPr/>
        </p:nvGrpSpPr>
        <p:grpSpPr bwMode="auto">
          <a:xfrm>
            <a:off x="1304984" y="0"/>
            <a:ext cx="9286875" cy="7043738"/>
            <a:chOff x="-142908" y="0"/>
            <a:chExt cx="9286908" cy="7042960"/>
          </a:xfrm>
        </p:grpSpPr>
        <p:pic>
          <p:nvPicPr>
            <p:cNvPr id="5"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7" name="Rectangle 3"/>
          <p:cNvSpPr txBox="1">
            <a:spLocks noChangeArrowheads="1"/>
          </p:cNvSpPr>
          <p:nvPr/>
        </p:nvSpPr>
        <p:spPr>
          <a:xfrm>
            <a:off x="1557338" y="2213048"/>
            <a:ext cx="7308850" cy="38163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8000" indent="0" algn="just">
              <a:spcBef>
                <a:spcPts val="0"/>
              </a:spcBef>
            </a:pPr>
            <a:r>
              <a:rPr lang="es-ES" sz="1400" dirty="0" smtClean="0">
                <a:latin typeface="Arial Narrow" pitchFamily="34" charset="0"/>
              </a:rPr>
              <a:t> El acta de constitución del proyecto establece una relación de colaboración entre la organización ejecutora y la organización solicitante (patrocinadora).</a:t>
            </a:r>
          </a:p>
          <a:p>
            <a:pPr marL="288000" indent="0" algn="just">
              <a:spcBef>
                <a:spcPts val="0"/>
              </a:spcBef>
            </a:pPr>
            <a:endParaRPr lang="es-ES" sz="1400" dirty="0" smtClean="0">
              <a:latin typeface="Arial Narrow" pitchFamily="34" charset="0"/>
            </a:endParaRPr>
          </a:p>
          <a:p>
            <a:pPr marL="288000" indent="0" algn="just">
              <a:spcBef>
                <a:spcPts val="0"/>
              </a:spcBef>
            </a:pPr>
            <a:r>
              <a:rPr lang="es-ES" sz="1400" dirty="0" smtClean="0">
                <a:latin typeface="Arial Narrow" pitchFamily="34" charset="0"/>
              </a:rPr>
              <a:t> Establecimiento de una forma directa para que la dirección general acepte y se comprometa con el proyecto</a:t>
            </a:r>
          </a:p>
          <a:p>
            <a:pPr marL="288000" indent="0" algn="just">
              <a:spcBef>
                <a:spcPts val="0"/>
              </a:spcBef>
            </a:pPr>
            <a:endParaRPr lang="es-ES" sz="1400" dirty="0" smtClean="0">
              <a:latin typeface="Arial Narrow" pitchFamily="34" charset="0"/>
            </a:endParaRPr>
          </a:p>
          <a:p>
            <a:pPr marL="288000" indent="0" algn="just">
              <a:spcBef>
                <a:spcPts val="0"/>
              </a:spcBef>
            </a:pPr>
            <a:r>
              <a:rPr lang="es-ES" sz="1400" dirty="0" smtClean="0">
                <a:latin typeface="Arial Narrow" pitchFamily="34" charset="0"/>
              </a:rPr>
              <a:t> El acta de constitución de un proyecto se utiliza incluso para establecer acuerdos internos en el seno de una organización con objeto de asegurar la entrega adecuada de acuerdo con el contrato</a:t>
            </a:r>
          </a:p>
          <a:p>
            <a:pPr marL="288000" indent="0" algn="just">
              <a:spcBef>
                <a:spcPts val="0"/>
              </a:spcBef>
            </a:pPr>
            <a:endParaRPr lang="es-ES" sz="1400" dirty="0" smtClean="0">
              <a:latin typeface="Arial Narrow" pitchFamily="34" charset="0"/>
            </a:endParaRPr>
          </a:p>
          <a:p>
            <a:pPr marL="288000" indent="0">
              <a:spcBef>
                <a:spcPts val="0"/>
              </a:spcBef>
            </a:pPr>
            <a:r>
              <a:rPr lang="es-ES" sz="1400" dirty="0" smtClean="0">
                <a:latin typeface="Arial Narrow" pitchFamily="34" charset="0"/>
              </a:rPr>
              <a:t> Formaliza el inicio del proyecto</a:t>
            </a:r>
          </a:p>
          <a:p>
            <a:pPr marL="288000" indent="0">
              <a:spcBef>
                <a:spcPts val="0"/>
              </a:spcBef>
            </a:pPr>
            <a:endParaRPr lang="es-ES" sz="1400" dirty="0" smtClean="0">
              <a:latin typeface="Arial Narrow" pitchFamily="34" charset="0"/>
            </a:endParaRPr>
          </a:p>
          <a:p>
            <a:pPr marL="288000" indent="0">
              <a:spcBef>
                <a:spcPts val="0"/>
              </a:spcBef>
            </a:pPr>
            <a:r>
              <a:rPr lang="es-ES" sz="1400" dirty="0" smtClean="0">
                <a:latin typeface="Arial Narrow" pitchFamily="34" charset="0"/>
              </a:rPr>
              <a:t> Asigna al director de proyecto </a:t>
            </a:r>
          </a:p>
          <a:p>
            <a:pPr marL="288000" indent="0">
              <a:spcBef>
                <a:spcPts val="0"/>
              </a:spcBef>
            </a:pPr>
            <a:endParaRPr lang="es-ES" sz="1400" dirty="0" smtClean="0">
              <a:latin typeface="Arial Narrow" pitchFamily="34" charset="0"/>
            </a:endParaRPr>
          </a:p>
          <a:p>
            <a:pPr marL="288000" indent="0" algn="just">
              <a:spcBef>
                <a:spcPts val="0"/>
              </a:spcBef>
            </a:pPr>
            <a:r>
              <a:rPr lang="es-ES" sz="1400" dirty="0" smtClean="0">
                <a:latin typeface="Arial Narrow" pitchFamily="34" charset="0"/>
              </a:rPr>
              <a:t> El acta de constitución del proyecto confiere al director del proyecto la autoridad necesaria para planificar y llevar a cabo el proyecto.  </a:t>
            </a:r>
          </a:p>
          <a:p>
            <a:pPr marL="288000" indent="0" algn="just">
              <a:spcBef>
                <a:spcPts val="0"/>
              </a:spcBef>
            </a:pPr>
            <a:endParaRPr lang="es-ES" sz="1400" dirty="0" smtClean="0">
              <a:latin typeface="Arial Narrow" pitchFamily="34" charset="0"/>
            </a:endParaRPr>
          </a:p>
          <a:p>
            <a:pPr marL="288000" indent="0" algn="just">
              <a:spcBef>
                <a:spcPts val="0"/>
              </a:spcBef>
            </a:pPr>
            <a:r>
              <a:rPr lang="es-ES" sz="1400" dirty="0" smtClean="0">
                <a:latin typeface="Arial Narrow" pitchFamily="34" charset="0"/>
              </a:rPr>
              <a:t> El acta de constitución del proyecto no se considera un contrato</a:t>
            </a:r>
          </a:p>
          <a:p>
            <a:pPr marL="288000" indent="0" algn="just">
              <a:spcBef>
                <a:spcPts val="0"/>
              </a:spcBef>
            </a:pPr>
            <a:endParaRPr lang="es-ES" sz="1400" dirty="0" smtClean="0">
              <a:latin typeface="Arial Narrow" pitchFamily="34" charset="0"/>
            </a:endParaRPr>
          </a:p>
          <a:p>
            <a:pPr marL="288000" indent="0">
              <a:spcBef>
                <a:spcPts val="0"/>
              </a:spcBef>
            </a:pPr>
            <a:r>
              <a:rPr lang="es-ES" sz="1400" dirty="0" smtClean="0">
                <a:latin typeface="Arial Narrow" pitchFamily="34" charset="0"/>
              </a:rPr>
              <a:t> Se debe hacer una reunión para explicar la lógica del proyecto</a:t>
            </a:r>
          </a:p>
          <a:p>
            <a:pPr marL="288000" indent="0">
              <a:spcBef>
                <a:spcPts val="0"/>
              </a:spcBef>
            </a:pPr>
            <a:endParaRPr lang="es-ES" sz="1400" dirty="0" smtClean="0">
              <a:latin typeface="Arial Narrow" pitchFamily="34" charset="0"/>
            </a:endParaRPr>
          </a:p>
          <a:p>
            <a:pPr marL="288000" indent="0">
              <a:spcBef>
                <a:spcPts val="0"/>
              </a:spcBef>
            </a:pPr>
            <a:endParaRPr lang="es-ES" sz="1400" dirty="0" smtClean="0">
              <a:latin typeface="Arial Narrow" pitchFamily="34" charset="0"/>
            </a:endParaRPr>
          </a:p>
          <a:p>
            <a:pPr marL="288000" indent="0">
              <a:spcBef>
                <a:spcPts val="0"/>
              </a:spcBef>
            </a:pPr>
            <a:endParaRPr lang="es-ES" sz="1400" dirty="0">
              <a:latin typeface="Arial Narrow" pitchFamily="34" charset="0"/>
            </a:endParaRPr>
          </a:p>
        </p:txBody>
      </p:sp>
      <p:sp>
        <p:nvSpPr>
          <p:cNvPr id="8" name="Rectangle 14"/>
          <p:cNvSpPr txBox="1">
            <a:spLocks noChangeArrowheads="1"/>
          </p:cNvSpPr>
          <p:nvPr/>
        </p:nvSpPr>
        <p:spPr>
          <a:xfrm>
            <a:off x="1090568" y="816598"/>
            <a:ext cx="10335237" cy="4460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4000" dirty="0" smtClean="0">
                <a:solidFill>
                  <a:schemeClr val="bg1"/>
                </a:solidFill>
              </a:rPr>
              <a:t>Para que sirve el Acta de constitución?</a:t>
            </a:r>
            <a:endParaRPr lang="es-ES" sz="4000" dirty="0">
              <a:solidFill>
                <a:schemeClr val="bg1"/>
              </a:solidFill>
            </a:endParaRPr>
          </a:p>
        </p:txBody>
      </p:sp>
      <p:grpSp>
        <p:nvGrpSpPr>
          <p:cNvPr id="9" name="1 Grupo"/>
          <p:cNvGrpSpPr/>
          <p:nvPr/>
        </p:nvGrpSpPr>
        <p:grpSpPr>
          <a:xfrm>
            <a:off x="8323350" y="2723551"/>
            <a:ext cx="2087563" cy="1827204"/>
            <a:chOff x="6877050" y="2754321"/>
            <a:chExt cx="2087563" cy="1827204"/>
          </a:xfrm>
        </p:grpSpPr>
        <p:sp>
          <p:nvSpPr>
            <p:cNvPr id="10" name="AutoShape 4"/>
            <p:cNvSpPr>
              <a:spLocks noChangeArrowheads="1"/>
            </p:cNvSpPr>
            <p:nvPr/>
          </p:nvSpPr>
          <p:spPr bwMode="auto">
            <a:xfrm>
              <a:off x="6877050" y="2781300"/>
              <a:ext cx="2087563" cy="1800225"/>
            </a:xfrm>
            <a:prstGeom prst="triangle">
              <a:avLst>
                <a:gd name="adj" fmla="val 50000"/>
              </a:avLst>
            </a:prstGeom>
            <a:solidFill>
              <a:srgbClr val="0000FF"/>
            </a:solidFill>
            <a:ln w="9525" algn="ctr">
              <a:noFill/>
              <a:miter lim="800000"/>
              <a:headEnd/>
              <a:tailEnd/>
            </a:ln>
          </p:spPr>
          <p:txBody>
            <a:bodyPr wrap="none" anchor="ctr"/>
            <a:lstStyle/>
            <a:p>
              <a:pPr algn="ctr"/>
              <a:endParaRPr lang="es-CO" sz="2000">
                <a:latin typeface="Arial" charset="0"/>
              </a:endParaRPr>
            </a:p>
          </p:txBody>
        </p:sp>
        <p:sp>
          <p:nvSpPr>
            <p:cNvPr id="11" name="AutoShape 5"/>
            <p:cNvSpPr>
              <a:spLocks noChangeArrowheads="1"/>
            </p:cNvSpPr>
            <p:nvPr/>
          </p:nvSpPr>
          <p:spPr bwMode="auto">
            <a:xfrm>
              <a:off x="7164388" y="2898783"/>
              <a:ext cx="1512887" cy="1296988"/>
            </a:xfrm>
            <a:prstGeom prst="triangle">
              <a:avLst>
                <a:gd name="adj" fmla="val 50000"/>
              </a:avLst>
            </a:prstGeom>
            <a:solidFill>
              <a:srgbClr val="00FF00"/>
            </a:solidFill>
            <a:ln w="9525" algn="ctr">
              <a:noFill/>
              <a:miter lim="800000"/>
              <a:headEnd/>
              <a:tailEnd/>
            </a:ln>
          </p:spPr>
          <p:txBody>
            <a:bodyPr wrap="none" anchor="ctr"/>
            <a:lstStyle/>
            <a:p>
              <a:pPr algn="ctr"/>
              <a:endParaRPr lang="es-CO" sz="2000">
                <a:latin typeface="Arial" charset="0"/>
              </a:endParaRPr>
            </a:p>
          </p:txBody>
        </p:sp>
        <p:sp>
          <p:nvSpPr>
            <p:cNvPr id="12" name="AutoShape 6"/>
            <p:cNvSpPr>
              <a:spLocks noChangeArrowheads="1"/>
            </p:cNvSpPr>
            <p:nvPr/>
          </p:nvSpPr>
          <p:spPr bwMode="auto">
            <a:xfrm>
              <a:off x="7453313" y="2898783"/>
              <a:ext cx="935037" cy="792163"/>
            </a:xfrm>
            <a:prstGeom prst="triangle">
              <a:avLst>
                <a:gd name="adj" fmla="val 50000"/>
              </a:avLst>
            </a:prstGeom>
            <a:solidFill>
              <a:srgbClr val="FFFF00"/>
            </a:solidFill>
            <a:ln w="9525" algn="ctr">
              <a:noFill/>
              <a:miter lim="800000"/>
              <a:headEnd/>
              <a:tailEnd/>
            </a:ln>
          </p:spPr>
          <p:txBody>
            <a:bodyPr wrap="none" anchor="ctr"/>
            <a:lstStyle/>
            <a:p>
              <a:pPr algn="ctr"/>
              <a:endParaRPr lang="en-US" sz="2000">
                <a:latin typeface="Arial" charset="0"/>
              </a:endParaRPr>
            </a:p>
          </p:txBody>
        </p:sp>
        <p:sp>
          <p:nvSpPr>
            <p:cNvPr id="13" name="Text Box 7"/>
            <p:cNvSpPr txBox="1">
              <a:spLocks noChangeArrowheads="1"/>
            </p:cNvSpPr>
            <p:nvPr/>
          </p:nvSpPr>
          <p:spPr bwMode="auto">
            <a:xfrm>
              <a:off x="7378700" y="3041658"/>
              <a:ext cx="1154113" cy="646331"/>
            </a:xfrm>
            <a:prstGeom prst="rect">
              <a:avLst/>
            </a:prstGeom>
            <a:noFill/>
            <a:ln w="9525" algn="ctr">
              <a:noFill/>
              <a:miter lim="800000"/>
              <a:headEnd/>
              <a:tailEnd/>
            </a:ln>
          </p:spPr>
          <p:txBody>
            <a:bodyPr>
              <a:spAutoFit/>
            </a:bodyPr>
            <a:lstStyle/>
            <a:p>
              <a:pPr algn="ctr">
                <a:spcBef>
                  <a:spcPct val="50000"/>
                </a:spcBef>
              </a:pPr>
              <a:r>
                <a:rPr lang="es-ES" sz="1200" dirty="0">
                  <a:latin typeface="Arial" charset="0"/>
                </a:rPr>
                <a:t>Acta de Constitución (4.1)</a:t>
              </a:r>
            </a:p>
          </p:txBody>
        </p:sp>
        <p:sp>
          <p:nvSpPr>
            <p:cNvPr id="14" name="Text Box 8"/>
            <p:cNvSpPr txBox="1">
              <a:spLocks noChangeArrowheads="1"/>
            </p:cNvSpPr>
            <p:nvPr/>
          </p:nvSpPr>
          <p:spPr bwMode="auto">
            <a:xfrm>
              <a:off x="7237413" y="3762383"/>
              <a:ext cx="1441450" cy="457200"/>
            </a:xfrm>
            <a:prstGeom prst="rect">
              <a:avLst/>
            </a:prstGeom>
            <a:noFill/>
            <a:ln w="9525" algn="ctr">
              <a:noFill/>
              <a:miter lim="800000"/>
              <a:headEnd/>
              <a:tailEnd/>
            </a:ln>
          </p:spPr>
          <p:txBody>
            <a:bodyPr>
              <a:spAutoFit/>
            </a:bodyPr>
            <a:lstStyle/>
            <a:p>
              <a:pPr algn="ctr">
                <a:spcBef>
                  <a:spcPct val="50000"/>
                </a:spcBef>
              </a:pPr>
              <a:r>
                <a:rPr lang="es-ES" sz="1200" b="1" dirty="0">
                  <a:latin typeface="Arial" charset="0"/>
                </a:rPr>
                <a:t>Enunciado del alcance (5.2</a:t>
              </a:r>
            </a:p>
          </p:txBody>
        </p:sp>
        <p:sp>
          <p:nvSpPr>
            <p:cNvPr id="15" name="Text Box 9"/>
            <p:cNvSpPr txBox="1">
              <a:spLocks noChangeArrowheads="1"/>
            </p:cNvSpPr>
            <p:nvPr/>
          </p:nvSpPr>
          <p:spPr bwMode="auto">
            <a:xfrm>
              <a:off x="7165975" y="4267208"/>
              <a:ext cx="1441450" cy="304800"/>
            </a:xfrm>
            <a:prstGeom prst="rect">
              <a:avLst/>
            </a:prstGeom>
            <a:noFill/>
            <a:ln w="9525" algn="ctr">
              <a:noFill/>
              <a:miter lim="800000"/>
              <a:headEnd/>
              <a:tailEnd/>
            </a:ln>
          </p:spPr>
          <p:txBody>
            <a:bodyPr>
              <a:spAutoFit/>
            </a:bodyPr>
            <a:lstStyle/>
            <a:p>
              <a:pPr algn="ctr">
                <a:spcBef>
                  <a:spcPct val="50000"/>
                </a:spcBef>
              </a:pPr>
              <a:r>
                <a:rPr lang="es-ES" sz="1400" b="1" dirty="0">
                  <a:solidFill>
                    <a:schemeClr val="bg1"/>
                  </a:solidFill>
                  <a:latin typeface="Arial" charset="0"/>
                </a:rPr>
                <a:t>EDT (5.3)</a:t>
              </a:r>
            </a:p>
          </p:txBody>
        </p:sp>
        <p:sp>
          <p:nvSpPr>
            <p:cNvPr id="16" name="Oval 10"/>
            <p:cNvSpPr>
              <a:spLocks noChangeArrowheads="1"/>
            </p:cNvSpPr>
            <p:nvPr/>
          </p:nvSpPr>
          <p:spPr bwMode="auto">
            <a:xfrm>
              <a:off x="7237413" y="2754321"/>
              <a:ext cx="1439862" cy="1079500"/>
            </a:xfrm>
            <a:prstGeom prst="ellipse">
              <a:avLst/>
            </a:prstGeom>
            <a:noFill/>
            <a:ln w="9525" algn="ctr">
              <a:solidFill>
                <a:srgbClr val="FF0000"/>
              </a:solidFill>
              <a:round/>
              <a:headEnd/>
              <a:tailEnd/>
            </a:ln>
          </p:spPr>
          <p:txBody>
            <a:bodyPr wrap="none" anchor="ctr"/>
            <a:lstStyle/>
            <a:p>
              <a:pPr algn="ctr"/>
              <a:endParaRPr lang="es-CO" sz="2000">
                <a:latin typeface="Arial" charset="0"/>
              </a:endParaRPr>
            </a:p>
          </p:txBody>
        </p:sp>
      </p:grpSp>
    </p:spTree>
    <p:extLst>
      <p:ext uri="{BB962C8B-B14F-4D97-AF65-F5344CB8AC3E}">
        <p14:creationId xmlns:p14="http://schemas.microsoft.com/office/powerpoint/2010/main" val="16368128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4" name="2 Grupo"/>
          <p:cNvGrpSpPr>
            <a:grpSpLocks/>
          </p:cNvGrpSpPr>
          <p:nvPr/>
        </p:nvGrpSpPr>
        <p:grpSpPr bwMode="auto">
          <a:xfrm>
            <a:off x="1381125" y="-185738"/>
            <a:ext cx="9286875" cy="7043738"/>
            <a:chOff x="-142908" y="0"/>
            <a:chExt cx="9286908" cy="7042960"/>
          </a:xfrm>
        </p:grpSpPr>
        <p:pic>
          <p:nvPicPr>
            <p:cNvPr id="5"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7" name="2 Título"/>
          <p:cNvSpPr txBox="1">
            <a:spLocks/>
          </p:cNvSpPr>
          <p:nvPr/>
        </p:nvSpPr>
        <p:spPr>
          <a:xfrm>
            <a:off x="1902270" y="-160885"/>
            <a:ext cx="8229600" cy="11430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sz="4000" dirty="0" smtClean="0">
                <a:solidFill>
                  <a:schemeClr val="bg1"/>
                </a:solidFill>
              </a:rPr>
              <a:t>Entradas para desarrollar el AC </a:t>
            </a:r>
            <a:r>
              <a:rPr lang="es-CO" sz="1600" dirty="0" smtClean="0">
                <a:solidFill>
                  <a:schemeClr val="bg1"/>
                </a:solidFill>
              </a:rPr>
              <a:t> </a:t>
            </a:r>
            <a:endParaRPr lang="es-CO" sz="1600" dirty="0">
              <a:solidFill>
                <a:schemeClr val="bg1"/>
              </a:solidFill>
            </a:endParaRPr>
          </a:p>
        </p:txBody>
      </p:sp>
      <p:grpSp>
        <p:nvGrpSpPr>
          <p:cNvPr id="8" name="Grupo 7"/>
          <p:cNvGrpSpPr/>
          <p:nvPr/>
        </p:nvGrpSpPr>
        <p:grpSpPr>
          <a:xfrm>
            <a:off x="1524000" y="908721"/>
            <a:ext cx="9144000" cy="5688632"/>
            <a:chOff x="1524000" y="908721"/>
            <a:chExt cx="9144000" cy="5688632"/>
          </a:xfrm>
        </p:grpSpPr>
        <p:sp>
          <p:nvSpPr>
            <p:cNvPr id="9" name="254 CuadroTexto"/>
            <p:cNvSpPr txBox="1"/>
            <p:nvPr/>
          </p:nvSpPr>
          <p:spPr>
            <a:xfrm>
              <a:off x="7201588" y="1229167"/>
              <a:ext cx="3466412" cy="307777"/>
            </a:xfrm>
            <a:prstGeom prst="rect">
              <a:avLst/>
            </a:prstGeom>
            <a:solidFill>
              <a:schemeClr val="accent5">
                <a:lumMod val="40000"/>
                <a:lumOff val="60000"/>
              </a:schemeClr>
            </a:solidFill>
          </p:spPr>
          <p:txBody>
            <a:bodyPr wrap="square" rtlCol="0">
              <a:spAutoFit/>
            </a:bodyPr>
            <a:lstStyle/>
            <a:p>
              <a:pPr>
                <a:defRPr/>
              </a:pPr>
              <a:r>
                <a:rPr lang="es-CO" sz="1400" kern="0" dirty="0">
                  <a:solidFill>
                    <a:sysClr val="windowText" lastClr="000000"/>
                  </a:solidFill>
                </a:rPr>
                <a:t>Descripción del Alcance del Proyecto</a:t>
              </a:r>
            </a:p>
          </p:txBody>
        </p:sp>
        <p:sp>
          <p:nvSpPr>
            <p:cNvPr id="10" name="255 CuadroTexto"/>
            <p:cNvSpPr txBox="1"/>
            <p:nvPr/>
          </p:nvSpPr>
          <p:spPr>
            <a:xfrm>
              <a:off x="1524000" y="1980182"/>
              <a:ext cx="1384762" cy="369332"/>
            </a:xfrm>
            <a:prstGeom prst="rect">
              <a:avLst/>
            </a:prstGeom>
            <a:solidFill>
              <a:schemeClr val="accent5">
                <a:lumMod val="60000"/>
                <a:lumOff val="40000"/>
              </a:schemeClr>
            </a:solidFill>
            <a:ln w="25400" cap="flat" cmpd="sng" algn="ctr">
              <a:solidFill>
                <a:srgbClr val="000000"/>
              </a:solidFill>
              <a:prstDash val="solid"/>
            </a:ln>
            <a:effectLst/>
          </p:spPr>
          <p:txBody>
            <a:bodyPr wrap="square" rtlCol="0">
              <a:spAutoFit/>
            </a:bodyPr>
            <a:lstStyle/>
            <a:p>
              <a:pPr algn="ctr">
                <a:defRPr/>
              </a:pPr>
              <a:r>
                <a:rPr lang="es-CO" kern="0" dirty="0">
                  <a:solidFill>
                    <a:srgbClr val="000000"/>
                  </a:solidFill>
                  <a:latin typeface="Arial"/>
                  <a:cs typeface="Arial"/>
                </a:rPr>
                <a:t>ENTRADA </a:t>
              </a:r>
            </a:p>
          </p:txBody>
        </p:sp>
        <p:sp>
          <p:nvSpPr>
            <p:cNvPr id="11" name="256 CuadroTexto"/>
            <p:cNvSpPr txBox="1"/>
            <p:nvPr/>
          </p:nvSpPr>
          <p:spPr>
            <a:xfrm>
              <a:off x="3116512" y="1214423"/>
              <a:ext cx="2423388" cy="584775"/>
            </a:xfrm>
            <a:prstGeom prst="rect">
              <a:avLst/>
            </a:prstGeom>
            <a:solidFill>
              <a:schemeClr val="accent5">
                <a:lumMod val="40000"/>
                <a:lumOff val="60000"/>
              </a:schemeClr>
            </a:solidFill>
          </p:spPr>
          <p:txBody>
            <a:bodyPr wrap="square" rtlCol="0">
              <a:spAutoFit/>
            </a:bodyPr>
            <a:lstStyle/>
            <a:p>
              <a:pPr algn="r">
                <a:defRPr/>
              </a:pPr>
              <a:r>
                <a:rPr lang="es-CO" sz="1600" kern="0" dirty="0">
                  <a:solidFill>
                    <a:sysClr val="windowText" lastClr="000000"/>
                  </a:solidFill>
                </a:rPr>
                <a:t>Enunciado del trabajo del proyecto</a:t>
              </a:r>
            </a:p>
          </p:txBody>
        </p:sp>
        <p:sp>
          <p:nvSpPr>
            <p:cNvPr id="12" name="257 CuadroTexto"/>
            <p:cNvSpPr txBox="1"/>
            <p:nvPr/>
          </p:nvSpPr>
          <p:spPr>
            <a:xfrm>
              <a:off x="7201652" y="908721"/>
              <a:ext cx="3046514" cy="307777"/>
            </a:xfrm>
            <a:prstGeom prst="rect">
              <a:avLst/>
            </a:prstGeom>
            <a:solidFill>
              <a:schemeClr val="accent5">
                <a:lumMod val="40000"/>
                <a:lumOff val="60000"/>
              </a:schemeClr>
            </a:solidFill>
          </p:spPr>
          <p:txBody>
            <a:bodyPr wrap="square" rtlCol="0">
              <a:spAutoFit/>
            </a:bodyPr>
            <a:lstStyle/>
            <a:p>
              <a:pPr>
                <a:defRPr/>
              </a:pPr>
              <a:r>
                <a:rPr lang="es-CO" sz="1400" kern="0" dirty="0">
                  <a:solidFill>
                    <a:sysClr val="windowText" lastClr="000000"/>
                  </a:solidFill>
                </a:rPr>
                <a:t>Necesidad de negocio</a:t>
              </a:r>
            </a:p>
          </p:txBody>
        </p:sp>
        <p:cxnSp>
          <p:nvCxnSpPr>
            <p:cNvPr id="13" name="259 Conector recto de flecha"/>
            <p:cNvCxnSpPr>
              <a:stCxn id="11" idx="3"/>
            </p:cNvCxnSpPr>
            <p:nvPr/>
          </p:nvCxnSpPr>
          <p:spPr>
            <a:xfrm flipV="1">
              <a:off x="5539901" y="1471094"/>
              <a:ext cx="1107835" cy="35716"/>
            </a:xfrm>
            <a:prstGeom prst="straightConnector1">
              <a:avLst/>
            </a:prstGeom>
            <a:noFill/>
            <a:ln w="28575" cap="flat" cmpd="sng" algn="ctr">
              <a:solidFill>
                <a:schemeClr val="accent5">
                  <a:lumMod val="40000"/>
                  <a:lumOff val="60000"/>
                </a:schemeClr>
              </a:solidFill>
              <a:prstDash val="solid"/>
              <a:headEnd type="none" w="med" len="med"/>
              <a:tailEnd type="none" w="med" len="med"/>
            </a:ln>
            <a:effectLst/>
          </p:spPr>
        </p:cxnSp>
        <p:cxnSp>
          <p:nvCxnSpPr>
            <p:cNvPr id="14" name="260 Conector recto de flecha"/>
            <p:cNvCxnSpPr>
              <a:endCxn id="12" idx="1"/>
            </p:cNvCxnSpPr>
            <p:nvPr/>
          </p:nvCxnSpPr>
          <p:spPr>
            <a:xfrm flipV="1">
              <a:off x="6647672" y="1062609"/>
              <a:ext cx="553981" cy="412994"/>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15" name="261 Conector recto de flecha"/>
            <p:cNvCxnSpPr/>
            <p:nvPr/>
          </p:nvCxnSpPr>
          <p:spPr>
            <a:xfrm>
              <a:off x="6647672" y="1465601"/>
              <a:ext cx="583833" cy="197765"/>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16" name="263 Forma"/>
            <p:cNvCxnSpPr>
              <a:stCxn id="10" idx="0"/>
              <a:endCxn id="11" idx="1"/>
            </p:cNvCxnSpPr>
            <p:nvPr/>
          </p:nvCxnSpPr>
          <p:spPr>
            <a:xfrm rot="5400000" flipH="1" flipV="1">
              <a:off x="2429760" y="1293432"/>
              <a:ext cx="473372" cy="900131"/>
            </a:xfrm>
            <a:prstGeom prst="bentConnector2">
              <a:avLst/>
            </a:prstGeom>
            <a:noFill/>
            <a:ln w="28575" cap="flat" cmpd="sng" algn="ctr">
              <a:solidFill>
                <a:schemeClr val="accent5">
                  <a:lumMod val="40000"/>
                  <a:lumOff val="60000"/>
                </a:schemeClr>
              </a:solidFill>
              <a:prstDash val="solid"/>
              <a:tailEnd type="arrow"/>
            </a:ln>
            <a:effectLst/>
          </p:spPr>
        </p:cxnSp>
        <p:sp>
          <p:nvSpPr>
            <p:cNvPr id="17" name="264 CuadroTexto"/>
            <p:cNvSpPr txBox="1"/>
            <p:nvPr/>
          </p:nvSpPr>
          <p:spPr>
            <a:xfrm>
              <a:off x="5524528" y="1229672"/>
              <a:ext cx="1428760" cy="246221"/>
            </a:xfrm>
            <a:prstGeom prst="rect">
              <a:avLst/>
            </a:prstGeom>
            <a:noFill/>
          </p:spPr>
          <p:txBody>
            <a:bodyPr wrap="square" rtlCol="0">
              <a:spAutoFit/>
            </a:bodyPr>
            <a:lstStyle/>
            <a:p>
              <a:pPr>
                <a:defRPr/>
              </a:pPr>
              <a:r>
                <a:rPr lang="es-CO" sz="1000" b="1" kern="0" dirty="0">
                  <a:solidFill>
                    <a:schemeClr val="accent3">
                      <a:lumMod val="60000"/>
                      <a:lumOff val="40000"/>
                    </a:schemeClr>
                  </a:solidFill>
                </a:rPr>
                <a:t>hace referencia a</a:t>
              </a:r>
            </a:p>
          </p:txBody>
        </p:sp>
        <p:sp>
          <p:nvSpPr>
            <p:cNvPr id="18" name="265 CuadroTexto"/>
            <p:cNvSpPr txBox="1"/>
            <p:nvPr/>
          </p:nvSpPr>
          <p:spPr>
            <a:xfrm>
              <a:off x="3462711" y="2682129"/>
              <a:ext cx="2077190" cy="338554"/>
            </a:xfrm>
            <a:prstGeom prst="rect">
              <a:avLst/>
            </a:prstGeom>
            <a:solidFill>
              <a:schemeClr val="accent5">
                <a:lumMod val="40000"/>
                <a:lumOff val="60000"/>
              </a:schemeClr>
            </a:solidFill>
          </p:spPr>
          <p:txBody>
            <a:bodyPr wrap="square" rtlCol="0">
              <a:spAutoFit/>
            </a:bodyPr>
            <a:lstStyle/>
            <a:p>
              <a:pPr algn="r">
                <a:defRPr/>
              </a:pPr>
              <a:r>
                <a:rPr lang="es-CO" sz="1600" kern="0" dirty="0">
                  <a:solidFill>
                    <a:sysClr val="windowText" lastClr="000000"/>
                  </a:solidFill>
                </a:rPr>
                <a:t>Caso de negocio</a:t>
              </a:r>
            </a:p>
          </p:txBody>
        </p:sp>
        <p:sp>
          <p:nvSpPr>
            <p:cNvPr id="19" name="266 CuadroTexto"/>
            <p:cNvSpPr txBox="1"/>
            <p:nvPr/>
          </p:nvSpPr>
          <p:spPr>
            <a:xfrm>
              <a:off x="7201652" y="2015490"/>
              <a:ext cx="2466280" cy="307777"/>
            </a:xfrm>
            <a:prstGeom prst="rect">
              <a:avLst/>
            </a:prstGeom>
            <a:solidFill>
              <a:schemeClr val="accent5">
                <a:lumMod val="40000"/>
                <a:lumOff val="60000"/>
              </a:schemeClr>
            </a:solidFill>
          </p:spPr>
          <p:txBody>
            <a:bodyPr wrap="square" rtlCol="0">
              <a:spAutoFit/>
            </a:bodyPr>
            <a:lstStyle/>
            <a:p>
              <a:pPr>
                <a:defRPr/>
              </a:pPr>
              <a:r>
                <a:rPr lang="es-CO" sz="1400" kern="0" dirty="0">
                  <a:solidFill>
                    <a:sysClr val="windowText" lastClr="000000"/>
                  </a:solidFill>
                </a:rPr>
                <a:t>Demanda del mercado</a:t>
              </a:r>
            </a:p>
          </p:txBody>
        </p:sp>
        <p:sp>
          <p:nvSpPr>
            <p:cNvPr id="20" name="267 CuadroTexto"/>
            <p:cNvSpPr txBox="1"/>
            <p:nvPr/>
          </p:nvSpPr>
          <p:spPr>
            <a:xfrm>
              <a:off x="7201652" y="2299251"/>
              <a:ext cx="2769586" cy="307777"/>
            </a:xfrm>
            <a:prstGeom prst="rect">
              <a:avLst/>
            </a:prstGeom>
            <a:solidFill>
              <a:schemeClr val="accent5">
                <a:lumMod val="40000"/>
                <a:lumOff val="60000"/>
              </a:schemeClr>
            </a:solidFill>
          </p:spPr>
          <p:txBody>
            <a:bodyPr wrap="square" rtlCol="0">
              <a:spAutoFit/>
            </a:bodyPr>
            <a:lstStyle/>
            <a:p>
              <a:pPr>
                <a:defRPr/>
              </a:pPr>
              <a:r>
                <a:rPr lang="es-CO" sz="1400" kern="0" dirty="0">
                  <a:solidFill>
                    <a:sysClr val="windowText" lastClr="000000"/>
                  </a:solidFill>
                </a:rPr>
                <a:t>Necesidad de la Organización </a:t>
              </a:r>
            </a:p>
          </p:txBody>
        </p:sp>
        <p:sp>
          <p:nvSpPr>
            <p:cNvPr id="21" name="268 CuadroTexto"/>
            <p:cNvSpPr txBox="1"/>
            <p:nvPr/>
          </p:nvSpPr>
          <p:spPr>
            <a:xfrm>
              <a:off x="7201652" y="2554504"/>
              <a:ext cx="2423388" cy="307777"/>
            </a:xfrm>
            <a:prstGeom prst="rect">
              <a:avLst/>
            </a:prstGeom>
            <a:solidFill>
              <a:schemeClr val="accent5">
                <a:lumMod val="40000"/>
                <a:lumOff val="60000"/>
              </a:schemeClr>
            </a:solidFill>
          </p:spPr>
          <p:txBody>
            <a:bodyPr wrap="square" rtlCol="0">
              <a:spAutoFit/>
            </a:bodyPr>
            <a:lstStyle/>
            <a:p>
              <a:pPr>
                <a:defRPr/>
              </a:pPr>
              <a:r>
                <a:rPr lang="es-CO" sz="1400" kern="0" dirty="0">
                  <a:solidFill>
                    <a:sysClr val="windowText" lastClr="000000"/>
                  </a:solidFill>
                </a:rPr>
                <a:t>Solicitud de un Cliente</a:t>
              </a:r>
            </a:p>
          </p:txBody>
        </p:sp>
        <p:sp>
          <p:nvSpPr>
            <p:cNvPr id="22" name="269 CuadroTexto"/>
            <p:cNvSpPr txBox="1"/>
            <p:nvPr/>
          </p:nvSpPr>
          <p:spPr>
            <a:xfrm>
              <a:off x="7201652" y="2809757"/>
              <a:ext cx="2077190" cy="307777"/>
            </a:xfrm>
            <a:prstGeom prst="rect">
              <a:avLst/>
            </a:prstGeom>
            <a:solidFill>
              <a:schemeClr val="accent5">
                <a:lumMod val="40000"/>
                <a:lumOff val="60000"/>
              </a:schemeClr>
            </a:solidFill>
          </p:spPr>
          <p:txBody>
            <a:bodyPr wrap="square" rtlCol="0">
              <a:spAutoFit/>
            </a:bodyPr>
            <a:lstStyle/>
            <a:p>
              <a:pPr>
                <a:defRPr/>
              </a:pPr>
              <a:r>
                <a:rPr lang="es-CO" sz="1400" kern="0" dirty="0">
                  <a:solidFill>
                    <a:sysClr val="windowText" lastClr="000000"/>
                  </a:solidFill>
                </a:rPr>
                <a:t>Avance Tecnológico </a:t>
              </a:r>
            </a:p>
          </p:txBody>
        </p:sp>
        <p:sp>
          <p:nvSpPr>
            <p:cNvPr id="23" name="270 CuadroTexto"/>
            <p:cNvSpPr txBox="1"/>
            <p:nvPr/>
          </p:nvSpPr>
          <p:spPr>
            <a:xfrm>
              <a:off x="7201653" y="3065010"/>
              <a:ext cx="1800231" cy="307777"/>
            </a:xfrm>
            <a:prstGeom prst="rect">
              <a:avLst/>
            </a:prstGeom>
            <a:solidFill>
              <a:schemeClr val="accent5">
                <a:lumMod val="40000"/>
                <a:lumOff val="60000"/>
              </a:schemeClr>
            </a:solidFill>
          </p:spPr>
          <p:txBody>
            <a:bodyPr wrap="square" rtlCol="0">
              <a:spAutoFit/>
            </a:bodyPr>
            <a:lstStyle/>
            <a:p>
              <a:pPr>
                <a:defRPr/>
              </a:pPr>
              <a:r>
                <a:rPr lang="es-CO" sz="1400" kern="0" dirty="0">
                  <a:solidFill>
                    <a:sysClr val="windowText" lastClr="000000"/>
                  </a:solidFill>
                </a:rPr>
                <a:t>Requisito legal</a:t>
              </a:r>
            </a:p>
          </p:txBody>
        </p:sp>
        <p:sp>
          <p:nvSpPr>
            <p:cNvPr id="24" name="271 CuadroTexto"/>
            <p:cNvSpPr txBox="1"/>
            <p:nvPr/>
          </p:nvSpPr>
          <p:spPr>
            <a:xfrm>
              <a:off x="7201653" y="3320263"/>
              <a:ext cx="1800231" cy="307777"/>
            </a:xfrm>
            <a:prstGeom prst="rect">
              <a:avLst/>
            </a:prstGeom>
            <a:solidFill>
              <a:schemeClr val="accent5">
                <a:lumMod val="40000"/>
                <a:lumOff val="60000"/>
              </a:schemeClr>
            </a:solidFill>
          </p:spPr>
          <p:txBody>
            <a:bodyPr wrap="square" rtlCol="0">
              <a:spAutoFit/>
            </a:bodyPr>
            <a:lstStyle/>
            <a:p>
              <a:pPr>
                <a:defRPr/>
              </a:pPr>
              <a:r>
                <a:rPr lang="es-CO" sz="1400" kern="0" dirty="0">
                  <a:solidFill>
                    <a:sysClr val="windowText" lastClr="000000"/>
                  </a:solidFill>
                </a:rPr>
                <a:t>Necesidad social</a:t>
              </a:r>
            </a:p>
          </p:txBody>
        </p:sp>
        <p:sp>
          <p:nvSpPr>
            <p:cNvPr id="25" name="272 CuadroTexto"/>
            <p:cNvSpPr txBox="1"/>
            <p:nvPr/>
          </p:nvSpPr>
          <p:spPr>
            <a:xfrm>
              <a:off x="7201653" y="3575517"/>
              <a:ext cx="1800231" cy="307777"/>
            </a:xfrm>
            <a:prstGeom prst="rect">
              <a:avLst/>
            </a:prstGeom>
            <a:solidFill>
              <a:schemeClr val="accent5">
                <a:lumMod val="40000"/>
                <a:lumOff val="60000"/>
              </a:schemeClr>
            </a:solidFill>
          </p:spPr>
          <p:txBody>
            <a:bodyPr wrap="square" rtlCol="0">
              <a:spAutoFit/>
            </a:bodyPr>
            <a:lstStyle/>
            <a:p>
              <a:pPr>
                <a:defRPr/>
              </a:pPr>
              <a:r>
                <a:rPr lang="es-CO" sz="1400" kern="0" dirty="0">
                  <a:solidFill>
                    <a:sysClr val="windowText" lastClr="000000"/>
                  </a:solidFill>
                </a:rPr>
                <a:t>Impacto ecológico </a:t>
              </a:r>
            </a:p>
          </p:txBody>
        </p:sp>
        <p:cxnSp>
          <p:nvCxnSpPr>
            <p:cNvPr id="26" name="273 Forma"/>
            <p:cNvCxnSpPr>
              <a:stCxn id="10" idx="2"/>
              <a:endCxn id="18" idx="1"/>
            </p:cNvCxnSpPr>
            <p:nvPr/>
          </p:nvCxnSpPr>
          <p:spPr>
            <a:xfrm rot="16200000" flipH="1">
              <a:off x="2588600" y="1977295"/>
              <a:ext cx="501892" cy="1246330"/>
            </a:xfrm>
            <a:prstGeom prst="bentConnector2">
              <a:avLst/>
            </a:prstGeom>
            <a:noFill/>
            <a:ln w="28575" cap="flat" cmpd="sng" algn="ctr">
              <a:solidFill>
                <a:schemeClr val="accent5">
                  <a:lumMod val="40000"/>
                  <a:lumOff val="60000"/>
                </a:schemeClr>
              </a:solidFill>
              <a:prstDash val="solid"/>
              <a:tailEnd type="arrow"/>
            </a:ln>
            <a:effectLst/>
          </p:spPr>
        </p:cxnSp>
        <p:cxnSp>
          <p:nvCxnSpPr>
            <p:cNvPr id="27" name="274 Conector recto"/>
            <p:cNvCxnSpPr>
              <a:stCxn id="18" idx="3"/>
            </p:cNvCxnSpPr>
            <p:nvPr/>
          </p:nvCxnSpPr>
          <p:spPr>
            <a:xfrm flipV="1">
              <a:off x="5539901" y="2809756"/>
              <a:ext cx="1107834" cy="41651"/>
            </a:xfrm>
            <a:prstGeom prst="line">
              <a:avLst/>
            </a:prstGeom>
            <a:noFill/>
            <a:ln w="28575" cap="flat" cmpd="sng" algn="ctr">
              <a:solidFill>
                <a:schemeClr val="accent5">
                  <a:lumMod val="40000"/>
                  <a:lumOff val="60000"/>
                </a:schemeClr>
              </a:solidFill>
              <a:prstDash val="solid"/>
            </a:ln>
            <a:effectLst/>
          </p:spPr>
        </p:cxnSp>
        <p:cxnSp>
          <p:nvCxnSpPr>
            <p:cNvPr id="28" name="275 Conector recto de flecha"/>
            <p:cNvCxnSpPr>
              <a:endCxn id="19" idx="1"/>
            </p:cNvCxnSpPr>
            <p:nvPr/>
          </p:nvCxnSpPr>
          <p:spPr>
            <a:xfrm rot="5400000" flipH="1" flipV="1">
              <a:off x="6604505" y="2212611"/>
              <a:ext cx="640381" cy="553916"/>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29" name="276 Conector recto de flecha"/>
            <p:cNvCxnSpPr>
              <a:endCxn id="20" idx="1"/>
            </p:cNvCxnSpPr>
            <p:nvPr/>
          </p:nvCxnSpPr>
          <p:spPr>
            <a:xfrm flipV="1">
              <a:off x="6647736" y="2453139"/>
              <a:ext cx="553917" cy="356618"/>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30" name="277 Conector recto de flecha"/>
            <p:cNvCxnSpPr>
              <a:endCxn id="21" idx="1"/>
            </p:cNvCxnSpPr>
            <p:nvPr/>
          </p:nvCxnSpPr>
          <p:spPr>
            <a:xfrm flipV="1">
              <a:off x="6647736" y="2708392"/>
              <a:ext cx="553917" cy="101364"/>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31" name="278 Conector recto de flecha"/>
            <p:cNvCxnSpPr>
              <a:endCxn id="22" idx="1"/>
            </p:cNvCxnSpPr>
            <p:nvPr/>
          </p:nvCxnSpPr>
          <p:spPr>
            <a:xfrm>
              <a:off x="6647736" y="2809755"/>
              <a:ext cx="553917" cy="153890"/>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32" name="279 Conector recto de flecha"/>
            <p:cNvCxnSpPr>
              <a:endCxn id="23" idx="1"/>
            </p:cNvCxnSpPr>
            <p:nvPr/>
          </p:nvCxnSpPr>
          <p:spPr>
            <a:xfrm>
              <a:off x="6647736" y="2809756"/>
              <a:ext cx="553917" cy="409143"/>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33" name="280 Conector recto de flecha"/>
            <p:cNvCxnSpPr>
              <a:endCxn id="24" idx="1"/>
            </p:cNvCxnSpPr>
            <p:nvPr/>
          </p:nvCxnSpPr>
          <p:spPr>
            <a:xfrm>
              <a:off x="6647736" y="2809757"/>
              <a:ext cx="553916" cy="664394"/>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34" name="281 Conector recto de flecha"/>
            <p:cNvCxnSpPr>
              <a:endCxn id="25" idx="1"/>
            </p:cNvCxnSpPr>
            <p:nvPr/>
          </p:nvCxnSpPr>
          <p:spPr>
            <a:xfrm>
              <a:off x="6647736" y="2809757"/>
              <a:ext cx="553917" cy="919649"/>
            </a:xfrm>
            <a:prstGeom prst="straightConnector1">
              <a:avLst/>
            </a:prstGeom>
            <a:noFill/>
            <a:ln w="28575" cap="flat" cmpd="sng" algn="ctr">
              <a:solidFill>
                <a:schemeClr val="accent5">
                  <a:lumMod val="40000"/>
                  <a:lumOff val="60000"/>
                </a:schemeClr>
              </a:solidFill>
              <a:prstDash val="solid"/>
              <a:tailEnd type="arrow"/>
            </a:ln>
            <a:effectLst/>
          </p:spPr>
        </p:cxnSp>
        <p:sp>
          <p:nvSpPr>
            <p:cNvPr id="35" name="282 CuadroTexto"/>
            <p:cNvSpPr txBox="1"/>
            <p:nvPr/>
          </p:nvSpPr>
          <p:spPr>
            <a:xfrm>
              <a:off x="5524528" y="2586994"/>
              <a:ext cx="1177074" cy="246221"/>
            </a:xfrm>
            <a:prstGeom prst="rect">
              <a:avLst/>
            </a:prstGeom>
            <a:noFill/>
          </p:spPr>
          <p:txBody>
            <a:bodyPr wrap="square" rtlCol="0">
              <a:spAutoFit/>
            </a:bodyPr>
            <a:lstStyle/>
            <a:p>
              <a:pPr algn="ctr">
                <a:defRPr/>
              </a:pPr>
              <a:r>
                <a:rPr lang="es-CO" sz="1000" b="1" kern="0" dirty="0">
                  <a:solidFill>
                    <a:schemeClr val="accent3">
                      <a:lumMod val="60000"/>
                      <a:lumOff val="40000"/>
                    </a:schemeClr>
                  </a:solidFill>
                </a:rPr>
                <a:t>es resultado</a:t>
              </a:r>
            </a:p>
          </p:txBody>
        </p:sp>
        <p:sp>
          <p:nvSpPr>
            <p:cNvPr id="36" name="283 CuadroTexto"/>
            <p:cNvSpPr txBox="1"/>
            <p:nvPr/>
          </p:nvSpPr>
          <p:spPr>
            <a:xfrm>
              <a:off x="3095604" y="3429001"/>
              <a:ext cx="2444296" cy="830997"/>
            </a:xfrm>
            <a:prstGeom prst="rect">
              <a:avLst/>
            </a:prstGeom>
            <a:solidFill>
              <a:schemeClr val="accent5">
                <a:lumMod val="40000"/>
                <a:lumOff val="60000"/>
              </a:schemeClr>
            </a:solidFill>
          </p:spPr>
          <p:txBody>
            <a:bodyPr wrap="square" rtlCol="0">
              <a:spAutoFit/>
            </a:bodyPr>
            <a:lstStyle/>
            <a:p>
              <a:pPr algn="r">
                <a:defRPr/>
              </a:pPr>
              <a:r>
                <a:rPr lang="es-CO" sz="1600" kern="0" dirty="0">
                  <a:solidFill>
                    <a:sysClr val="windowText" lastClr="000000"/>
                  </a:solidFill>
                </a:rPr>
                <a:t>Acuerdos (Definir las intensiones iniciales del proyecto)</a:t>
              </a:r>
            </a:p>
          </p:txBody>
        </p:sp>
        <p:cxnSp>
          <p:nvCxnSpPr>
            <p:cNvPr id="37" name="284 Forma"/>
            <p:cNvCxnSpPr>
              <a:stCxn id="10" idx="2"/>
              <a:endCxn id="36" idx="1"/>
            </p:cNvCxnSpPr>
            <p:nvPr/>
          </p:nvCxnSpPr>
          <p:spPr>
            <a:xfrm rot="16200000" flipH="1">
              <a:off x="1908501" y="2657395"/>
              <a:ext cx="1494985" cy="879223"/>
            </a:xfrm>
            <a:prstGeom prst="bentConnector2">
              <a:avLst/>
            </a:prstGeom>
            <a:noFill/>
            <a:ln w="28575" cap="flat" cmpd="sng" algn="ctr">
              <a:solidFill>
                <a:schemeClr val="accent5">
                  <a:lumMod val="40000"/>
                  <a:lumOff val="60000"/>
                </a:schemeClr>
              </a:solidFill>
              <a:prstDash val="solid"/>
              <a:tailEnd type="arrow"/>
            </a:ln>
            <a:effectLst/>
          </p:spPr>
        </p:cxnSp>
        <p:sp>
          <p:nvSpPr>
            <p:cNvPr id="38" name="285 CuadroTexto"/>
            <p:cNvSpPr txBox="1"/>
            <p:nvPr/>
          </p:nvSpPr>
          <p:spPr>
            <a:xfrm>
              <a:off x="3238481" y="4500571"/>
              <a:ext cx="2232181" cy="584775"/>
            </a:xfrm>
            <a:prstGeom prst="rect">
              <a:avLst/>
            </a:prstGeom>
            <a:solidFill>
              <a:schemeClr val="accent5">
                <a:lumMod val="40000"/>
                <a:lumOff val="60000"/>
              </a:schemeClr>
            </a:solidFill>
          </p:spPr>
          <p:txBody>
            <a:bodyPr wrap="square" rtlCol="0">
              <a:spAutoFit/>
            </a:bodyPr>
            <a:lstStyle/>
            <a:p>
              <a:pPr algn="r">
                <a:defRPr/>
              </a:pPr>
              <a:r>
                <a:rPr lang="es-CO" sz="1600" kern="0" dirty="0">
                  <a:solidFill>
                    <a:sysClr val="windowText" lastClr="000000"/>
                  </a:solidFill>
                </a:rPr>
                <a:t>Factores Ambientales de la Empresa</a:t>
              </a:r>
            </a:p>
          </p:txBody>
        </p:sp>
        <p:cxnSp>
          <p:nvCxnSpPr>
            <p:cNvPr id="39" name="290 Forma"/>
            <p:cNvCxnSpPr>
              <a:stCxn id="10" idx="2"/>
              <a:endCxn id="38" idx="1"/>
            </p:cNvCxnSpPr>
            <p:nvPr/>
          </p:nvCxnSpPr>
          <p:spPr>
            <a:xfrm rot="16200000" flipH="1">
              <a:off x="1505708" y="3060187"/>
              <a:ext cx="2443444" cy="1022099"/>
            </a:xfrm>
            <a:prstGeom prst="bentConnector2">
              <a:avLst/>
            </a:prstGeom>
            <a:noFill/>
            <a:ln w="28575" cap="flat" cmpd="sng" algn="ctr">
              <a:solidFill>
                <a:schemeClr val="accent5">
                  <a:lumMod val="40000"/>
                  <a:lumOff val="60000"/>
                </a:schemeClr>
              </a:solidFill>
              <a:prstDash val="solid"/>
              <a:tailEnd type="arrow"/>
            </a:ln>
            <a:effectLst/>
          </p:spPr>
        </p:cxnSp>
        <p:cxnSp>
          <p:nvCxnSpPr>
            <p:cNvPr id="40" name="291 Conector recto de flecha"/>
            <p:cNvCxnSpPr>
              <a:stCxn id="38" idx="3"/>
            </p:cNvCxnSpPr>
            <p:nvPr/>
          </p:nvCxnSpPr>
          <p:spPr>
            <a:xfrm flipV="1">
              <a:off x="5470662" y="4143102"/>
              <a:ext cx="1755839" cy="649856"/>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41" name="292 Conector recto de flecha"/>
            <p:cNvCxnSpPr>
              <a:stCxn id="38" idx="3"/>
            </p:cNvCxnSpPr>
            <p:nvPr/>
          </p:nvCxnSpPr>
          <p:spPr>
            <a:xfrm flipV="1">
              <a:off x="5470662" y="4404934"/>
              <a:ext cx="1730991" cy="388025"/>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42" name="293 Conector recto de flecha"/>
            <p:cNvCxnSpPr>
              <a:stCxn id="38" idx="3"/>
            </p:cNvCxnSpPr>
            <p:nvPr/>
          </p:nvCxnSpPr>
          <p:spPr>
            <a:xfrm flipV="1">
              <a:off x="5470662" y="4690686"/>
              <a:ext cx="1730991" cy="102273"/>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43" name="294 Conector recto de flecha"/>
            <p:cNvCxnSpPr>
              <a:stCxn id="38" idx="3"/>
            </p:cNvCxnSpPr>
            <p:nvPr/>
          </p:nvCxnSpPr>
          <p:spPr>
            <a:xfrm>
              <a:off x="5470662" y="4792958"/>
              <a:ext cx="1730991" cy="131754"/>
            </a:xfrm>
            <a:prstGeom prst="straightConnector1">
              <a:avLst/>
            </a:prstGeom>
            <a:noFill/>
            <a:ln w="28575" cap="flat" cmpd="sng" algn="ctr">
              <a:solidFill>
                <a:schemeClr val="accent5">
                  <a:lumMod val="40000"/>
                  <a:lumOff val="60000"/>
                </a:schemeClr>
              </a:solidFill>
              <a:prstDash val="solid"/>
              <a:tailEnd type="arrow"/>
            </a:ln>
            <a:effectLst/>
          </p:spPr>
        </p:cxnSp>
        <p:sp>
          <p:nvSpPr>
            <p:cNvPr id="44" name="295 CuadroTexto"/>
            <p:cNvSpPr txBox="1"/>
            <p:nvPr/>
          </p:nvSpPr>
          <p:spPr>
            <a:xfrm>
              <a:off x="3024166" y="5500703"/>
              <a:ext cx="2446494" cy="584775"/>
            </a:xfrm>
            <a:prstGeom prst="rect">
              <a:avLst/>
            </a:prstGeom>
            <a:solidFill>
              <a:schemeClr val="accent5">
                <a:lumMod val="40000"/>
                <a:lumOff val="60000"/>
              </a:schemeClr>
            </a:solidFill>
          </p:spPr>
          <p:txBody>
            <a:bodyPr wrap="square" rtlCol="0">
              <a:spAutoFit/>
            </a:bodyPr>
            <a:lstStyle/>
            <a:p>
              <a:pPr algn="r">
                <a:defRPr/>
              </a:pPr>
              <a:r>
                <a:rPr lang="es-CO" sz="1600" kern="0" dirty="0">
                  <a:solidFill>
                    <a:sysClr val="windowText" lastClr="000000"/>
                  </a:solidFill>
                </a:rPr>
                <a:t>Activos de los Procesos de la Organización  </a:t>
              </a:r>
            </a:p>
          </p:txBody>
        </p:sp>
        <p:sp>
          <p:nvSpPr>
            <p:cNvPr id="45" name="296 CuadroTexto"/>
            <p:cNvSpPr txBox="1"/>
            <p:nvPr/>
          </p:nvSpPr>
          <p:spPr>
            <a:xfrm>
              <a:off x="7201652" y="5489918"/>
              <a:ext cx="3466348" cy="830997"/>
            </a:xfrm>
            <a:prstGeom prst="rect">
              <a:avLst/>
            </a:prstGeom>
            <a:solidFill>
              <a:schemeClr val="accent5">
                <a:lumMod val="40000"/>
                <a:lumOff val="60000"/>
              </a:schemeClr>
            </a:solidFill>
          </p:spPr>
          <p:txBody>
            <a:bodyPr wrap="square" rtlCol="0">
              <a:spAutoFit/>
            </a:bodyPr>
            <a:lstStyle/>
            <a:p>
              <a:pPr>
                <a:defRPr/>
              </a:pPr>
              <a:r>
                <a:rPr lang="es-CO" sz="1200" kern="0" dirty="0" err="1">
                  <a:solidFill>
                    <a:sysClr val="windowText" lastClr="000000"/>
                  </a:solidFill>
                </a:rPr>
                <a:t>Guias</a:t>
              </a:r>
              <a:r>
                <a:rPr lang="es-CO" sz="1200" kern="0" dirty="0">
                  <a:solidFill>
                    <a:sysClr val="windowText" lastClr="000000"/>
                  </a:solidFill>
                </a:rPr>
                <a:t> estandarizadas(ED),Planes, procesos, plantillas. Procesos, Políticas definidas.  </a:t>
              </a:r>
              <a:r>
                <a:rPr lang="es-CO" sz="1200" kern="0" dirty="0" err="1">
                  <a:solidFill>
                    <a:sysClr val="windowText" lastClr="000000"/>
                  </a:solidFill>
                </a:rPr>
                <a:t>Metodos</a:t>
              </a:r>
              <a:r>
                <a:rPr lang="es-CO" sz="1200" kern="0" dirty="0">
                  <a:solidFill>
                    <a:sysClr val="windowText" lastClr="000000"/>
                  </a:solidFill>
                </a:rPr>
                <a:t> de Monitoreo de información</a:t>
              </a:r>
            </a:p>
            <a:p>
              <a:pPr>
                <a:defRPr/>
              </a:pPr>
              <a:endParaRPr lang="es-CO" sz="1200" kern="0" dirty="0">
                <a:solidFill>
                  <a:sysClr val="windowText" lastClr="000000"/>
                </a:solidFill>
              </a:endParaRPr>
            </a:p>
          </p:txBody>
        </p:sp>
        <p:sp>
          <p:nvSpPr>
            <p:cNvPr id="46" name="298 CuadroTexto"/>
            <p:cNvSpPr txBox="1"/>
            <p:nvPr/>
          </p:nvSpPr>
          <p:spPr>
            <a:xfrm>
              <a:off x="7201588" y="6135688"/>
              <a:ext cx="2537718" cy="461665"/>
            </a:xfrm>
            <a:prstGeom prst="rect">
              <a:avLst/>
            </a:prstGeom>
            <a:solidFill>
              <a:schemeClr val="accent5">
                <a:lumMod val="40000"/>
                <a:lumOff val="60000"/>
              </a:schemeClr>
            </a:solidFill>
          </p:spPr>
          <p:txBody>
            <a:bodyPr wrap="square" rtlCol="0">
              <a:spAutoFit/>
            </a:bodyPr>
            <a:lstStyle/>
            <a:p>
              <a:pPr>
                <a:defRPr/>
              </a:pPr>
              <a:r>
                <a:rPr lang="es-CO" sz="1200" kern="0" dirty="0">
                  <a:solidFill>
                    <a:sysClr val="windowText" lastClr="000000"/>
                  </a:solidFill>
                </a:rPr>
                <a:t>Históricos, lecciones aprendidas, Base de Datos</a:t>
              </a:r>
            </a:p>
          </p:txBody>
        </p:sp>
        <p:cxnSp>
          <p:nvCxnSpPr>
            <p:cNvPr id="47" name="299 Conector recto de flecha"/>
            <p:cNvCxnSpPr>
              <a:stCxn id="44" idx="3"/>
              <a:endCxn id="45" idx="1"/>
            </p:cNvCxnSpPr>
            <p:nvPr/>
          </p:nvCxnSpPr>
          <p:spPr>
            <a:xfrm>
              <a:off x="5470660" y="5793090"/>
              <a:ext cx="1730992" cy="112326"/>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48" name="300 Conector recto de flecha"/>
            <p:cNvCxnSpPr>
              <a:stCxn id="44" idx="3"/>
            </p:cNvCxnSpPr>
            <p:nvPr/>
          </p:nvCxnSpPr>
          <p:spPr>
            <a:xfrm>
              <a:off x="5470660" y="5793091"/>
              <a:ext cx="1730928" cy="156151"/>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49" name="301 Conector recto de flecha"/>
            <p:cNvCxnSpPr>
              <a:stCxn id="44" idx="3"/>
              <a:endCxn id="46" idx="1"/>
            </p:cNvCxnSpPr>
            <p:nvPr/>
          </p:nvCxnSpPr>
          <p:spPr>
            <a:xfrm>
              <a:off x="5470660" y="5793090"/>
              <a:ext cx="1730928" cy="573430"/>
            </a:xfrm>
            <a:prstGeom prst="straightConnector1">
              <a:avLst/>
            </a:prstGeom>
            <a:noFill/>
            <a:ln w="28575" cap="flat" cmpd="sng" algn="ctr">
              <a:solidFill>
                <a:schemeClr val="accent5">
                  <a:lumMod val="40000"/>
                  <a:lumOff val="60000"/>
                </a:schemeClr>
              </a:solidFill>
              <a:prstDash val="solid"/>
              <a:tailEnd type="arrow"/>
            </a:ln>
            <a:effectLst/>
          </p:spPr>
        </p:cxnSp>
        <p:cxnSp>
          <p:nvCxnSpPr>
            <p:cNvPr id="50" name="302 Forma"/>
            <p:cNvCxnSpPr>
              <a:stCxn id="10" idx="2"/>
              <a:endCxn id="44" idx="1"/>
            </p:cNvCxnSpPr>
            <p:nvPr/>
          </p:nvCxnSpPr>
          <p:spPr>
            <a:xfrm rot="16200000" flipH="1">
              <a:off x="898485" y="3667410"/>
              <a:ext cx="3443576" cy="807785"/>
            </a:xfrm>
            <a:prstGeom prst="bentConnector2">
              <a:avLst/>
            </a:prstGeom>
            <a:noFill/>
            <a:ln w="28575" cap="flat" cmpd="sng" algn="ctr">
              <a:solidFill>
                <a:schemeClr val="accent5">
                  <a:lumMod val="40000"/>
                  <a:lumOff val="60000"/>
                </a:schemeClr>
              </a:solidFill>
              <a:prstDash val="solid"/>
              <a:tailEnd type="arrow"/>
            </a:ln>
            <a:effectLst/>
          </p:spPr>
        </p:cxnSp>
        <p:sp>
          <p:nvSpPr>
            <p:cNvPr id="51" name="55 CuadroTexto"/>
            <p:cNvSpPr txBox="1"/>
            <p:nvPr/>
          </p:nvSpPr>
          <p:spPr>
            <a:xfrm>
              <a:off x="2309786" y="1142984"/>
              <a:ext cx="428628" cy="338554"/>
            </a:xfrm>
            <a:prstGeom prst="rect">
              <a:avLst/>
            </a:prstGeom>
            <a:noFill/>
          </p:spPr>
          <p:txBody>
            <a:bodyPr wrap="square" rtlCol="0">
              <a:spAutoFit/>
            </a:bodyPr>
            <a:lstStyle/>
            <a:p>
              <a:pPr algn="ctr">
                <a:defRPr/>
              </a:pPr>
              <a:r>
                <a:rPr lang="es-CO" sz="1600" b="1" kern="0" dirty="0">
                  <a:solidFill>
                    <a:schemeClr val="accent3">
                      <a:lumMod val="60000"/>
                      <a:lumOff val="40000"/>
                    </a:schemeClr>
                  </a:solidFill>
                </a:rPr>
                <a:t>1</a:t>
              </a:r>
            </a:p>
          </p:txBody>
        </p:sp>
        <p:sp>
          <p:nvSpPr>
            <p:cNvPr id="52" name="56 CuadroTexto"/>
            <p:cNvSpPr txBox="1"/>
            <p:nvPr/>
          </p:nvSpPr>
          <p:spPr>
            <a:xfrm>
              <a:off x="2309786" y="2500306"/>
              <a:ext cx="428628" cy="338554"/>
            </a:xfrm>
            <a:prstGeom prst="rect">
              <a:avLst/>
            </a:prstGeom>
            <a:noFill/>
          </p:spPr>
          <p:txBody>
            <a:bodyPr wrap="square" rtlCol="0">
              <a:spAutoFit/>
            </a:bodyPr>
            <a:lstStyle/>
            <a:p>
              <a:pPr algn="ctr">
                <a:defRPr/>
              </a:pPr>
              <a:r>
                <a:rPr lang="es-CO" sz="1600" b="1" kern="0" dirty="0">
                  <a:solidFill>
                    <a:schemeClr val="accent3">
                      <a:lumMod val="60000"/>
                      <a:lumOff val="40000"/>
                    </a:schemeClr>
                  </a:solidFill>
                </a:rPr>
                <a:t>2</a:t>
              </a:r>
            </a:p>
          </p:txBody>
        </p:sp>
        <p:sp>
          <p:nvSpPr>
            <p:cNvPr id="53" name="57 CuadroTexto"/>
            <p:cNvSpPr txBox="1"/>
            <p:nvPr/>
          </p:nvSpPr>
          <p:spPr>
            <a:xfrm>
              <a:off x="2309786" y="3500438"/>
              <a:ext cx="428628" cy="338554"/>
            </a:xfrm>
            <a:prstGeom prst="rect">
              <a:avLst/>
            </a:prstGeom>
            <a:noFill/>
          </p:spPr>
          <p:txBody>
            <a:bodyPr wrap="square" rtlCol="0">
              <a:spAutoFit/>
            </a:bodyPr>
            <a:lstStyle/>
            <a:p>
              <a:pPr algn="ctr">
                <a:defRPr/>
              </a:pPr>
              <a:r>
                <a:rPr lang="es-CO" sz="1600" b="1" kern="0" dirty="0">
                  <a:solidFill>
                    <a:schemeClr val="accent3">
                      <a:lumMod val="60000"/>
                      <a:lumOff val="40000"/>
                    </a:schemeClr>
                  </a:solidFill>
                </a:rPr>
                <a:t>3</a:t>
              </a:r>
            </a:p>
          </p:txBody>
        </p:sp>
        <p:sp>
          <p:nvSpPr>
            <p:cNvPr id="54" name="58 CuadroTexto"/>
            <p:cNvSpPr txBox="1"/>
            <p:nvPr/>
          </p:nvSpPr>
          <p:spPr>
            <a:xfrm>
              <a:off x="2309786" y="4572008"/>
              <a:ext cx="428628" cy="338554"/>
            </a:xfrm>
            <a:prstGeom prst="rect">
              <a:avLst/>
            </a:prstGeom>
            <a:noFill/>
          </p:spPr>
          <p:txBody>
            <a:bodyPr wrap="square" rtlCol="0">
              <a:spAutoFit/>
            </a:bodyPr>
            <a:lstStyle/>
            <a:p>
              <a:pPr algn="ctr">
                <a:defRPr/>
              </a:pPr>
              <a:r>
                <a:rPr lang="es-CO" sz="1600" b="1" kern="0" dirty="0">
                  <a:solidFill>
                    <a:schemeClr val="accent3">
                      <a:lumMod val="60000"/>
                      <a:lumOff val="40000"/>
                    </a:schemeClr>
                  </a:solidFill>
                </a:rPr>
                <a:t>4</a:t>
              </a:r>
            </a:p>
          </p:txBody>
        </p:sp>
        <p:sp>
          <p:nvSpPr>
            <p:cNvPr id="55" name="59 CuadroTexto"/>
            <p:cNvSpPr txBox="1"/>
            <p:nvPr/>
          </p:nvSpPr>
          <p:spPr>
            <a:xfrm>
              <a:off x="2309786" y="5572140"/>
              <a:ext cx="428628" cy="338554"/>
            </a:xfrm>
            <a:prstGeom prst="rect">
              <a:avLst/>
            </a:prstGeom>
            <a:noFill/>
          </p:spPr>
          <p:txBody>
            <a:bodyPr wrap="square" rtlCol="0">
              <a:spAutoFit/>
            </a:bodyPr>
            <a:lstStyle/>
            <a:p>
              <a:pPr algn="ctr">
                <a:defRPr/>
              </a:pPr>
              <a:r>
                <a:rPr lang="es-CO" sz="1600" b="1" kern="0" dirty="0">
                  <a:solidFill>
                    <a:schemeClr val="accent3">
                      <a:lumMod val="60000"/>
                      <a:lumOff val="40000"/>
                    </a:schemeClr>
                  </a:solidFill>
                </a:rPr>
                <a:t>5</a:t>
              </a:r>
            </a:p>
          </p:txBody>
        </p:sp>
        <p:sp>
          <p:nvSpPr>
            <p:cNvPr id="56" name="254 CuadroTexto"/>
            <p:cNvSpPr txBox="1"/>
            <p:nvPr/>
          </p:nvSpPr>
          <p:spPr>
            <a:xfrm>
              <a:off x="7201588" y="1559913"/>
              <a:ext cx="3466412" cy="307777"/>
            </a:xfrm>
            <a:prstGeom prst="rect">
              <a:avLst/>
            </a:prstGeom>
            <a:solidFill>
              <a:schemeClr val="accent5">
                <a:lumMod val="40000"/>
                <a:lumOff val="60000"/>
              </a:schemeClr>
            </a:solidFill>
          </p:spPr>
          <p:txBody>
            <a:bodyPr wrap="square" rtlCol="0">
              <a:spAutoFit/>
            </a:bodyPr>
            <a:lstStyle/>
            <a:p>
              <a:pPr>
                <a:defRPr/>
              </a:pPr>
              <a:r>
                <a:rPr lang="es-CO" sz="1400" kern="0" dirty="0">
                  <a:solidFill>
                    <a:sysClr val="windowText" lastClr="000000"/>
                  </a:solidFill>
                </a:rPr>
                <a:t>Documento Técnico del Proyecto</a:t>
              </a:r>
            </a:p>
          </p:txBody>
        </p:sp>
        <p:sp>
          <p:nvSpPr>
            <p:cNvPr id="57" name="289 CuadroTexto"/>
            <p:cNvSpPr txBox="1"/>
            <p:nvPr/>
          </p:nvSpPr>
          <p:spPr>
            <a:xfrm>
              <a:off x="7201588" y="3984114"/>
              <a:ext cx="3358908" cy="830997"/>
            </a:xfrm>
            <a:prstGeom prst="rect">
              <a:avLst/>
            </a:prstGeom>
            <a:solidFill>
              <a:schemeClr val="accent5">
                <a:lumMod val="40000"/>
                <a:lumOff val="60000"/>
              </a:schemeClr>
            </a:solidFill>
          </p:spPr>
          <p:txBody>
            <a:bodyPr wrap="square" rtlCol="0">
              <a:spAutoFit/>
            </a:bodyPr>
            <a:lstStyle/>
            <a:p>
              <a:pPr>
                <a:defRPr/>
              </a:pPr>
              <a:r>
                <a:rPr lang="es-CO" sz="1200" kern="0" dirty="0" err="1">
                  <a:solidFill>
                    <a:sysClr val="windowText" lastClr="000000"/>
                  </a:solidFill>
                </a:rPr>
                <a:t>Estándares</a:t>
              </a:r>
              <a:r>
                <a:rPr lang="es-CO" sz="1200" kern="0" dirty="0">
                  <a:solidFill>
                    <a:sysClr val="windowText" lastClr="000000"/>
                  </a:solidFill>
                </a:rPr>
                <a:t> Gubernamentales o de la industria.</a:t>
              </a:r>
            </a:p>
            <a:p>
              <a:pPr lvl="0">
                <a:defRPr/>
              </a:pPr>
              <a:r>
                <a:rPr lang="es-CO" sz="1200" kern="0" dirty="0">
                  <a:solidFill>
                    <a:sysClr val="windowText" lastClr="000000"/>
                  </a:solidFill>
                </a:rPr>
                <a:t>Requisitos y/o restricciones legales y regulatorios.</a:t>
              </a:r>
            </a:p>
            <a:p>
              <a:pPr lvl="0">
                <a:defRPr/>
              </a:pPr>
              <a:r>
                <a:rPr lang="es-CO" sz="1200" kern="0" dirty="0">
                  <a:solidFill>
                    <a:sysClr val="windowText" lastClr="000000"/>
                  </a:solidFill>
                </a:rPr>
                <a:t>Clima organizacional.  Condiciones del mercado.  </a:t>
              </a:r>
            </a:p>
            <a:p>
              <a:pPr lvl="0">
                <a:defRPr/>
              </a:pPr>
              <a:r>
                <a:rPr lang="es-CO" sz="1200" kern="0" dirty="0">
                  <a:solidFill>
                    <a:sysClr val="windowText" lastClr="000000"/>
                  </a:solidFill>
                </a:rPr>
                <a:t>Marco de Gobernanza Organizacional.  </a:t>
              </a:r>
            </a:p>
          </p:txBody>
        </p:sp>
        <p:cxnSp>
          <p:nvCxnSpPr>
            <p:cNvPr id="58" name="294 Conector recto de flecha"/>
            <p:cNvCxnSpPr>
              <a:stCxn id="38" idx="3"/>
            </p:cNvCxnSpPr>
            <p:nvPr/>
          </p:nvCxnSpPr>
          <p:spPr>
            <a:xfrm>
              <a:off x="5470662" y="4792958"/>
              <a:ext cx="1765803" cy="417506"/>
            </a:xfrm>
            <a:prstGeom prst="straightConnector1">
              <a:avLst/>
            </a:prstGeom>
            <a:noFill/>
            <a:ln w="28575" cap="flat" cmpd="sng" algn="ctr">
              <a:solidFill>
                <a:schemeClr val="accent5">
                  <a:lumMod val="40000"/>
                  <a:lumOff val="60000"/>
                </a:schemeClr>
              </a:solidFill>
              <a:prstDash val="solid"/>
              <a:tailEnd type="arrow"/>
            </a:ln>
            <a:effectLst/>
          </p:spPr>
        </p:cxnSp>
      </p:grpSp>
    </p:spTree>
    <p:extLst>
      <p:ext uri="{BB962C8B-B14F-4D97-AF65-F5344CB8AC3E}">
        <p14:creationId xmlns:p14="http://schemas.microsoft.com/office/powerpoint/2010/main" val="10825023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4" name="2 Grupo"/>
          <p:cNvGrpSpPr>
            <a:grpSpLocks/>
          </p:cNvGrpSpPr>
          <p:nvPr/>
        </p:nvGrpSpPr>
        <p:grpSpPr bwMode="auto">
          <a:xfrm>
            <a:off x="1381125" y="-185738"/>
            <a:ext cx="9286875" cy="7043738"/>
            <a:chOff x="-142908" y="0"/>
            <a:chExt cx="9286908" cy="7042960"/>
          </a:xfrm>
        </p:grpSpPr>
        <p:pic>
          <p:nvPicPr>
            <p:cNvPr id="5"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7" name="2 Título"/>
          <p:cNvSpPr txBox="1">
            <a:spLocks/>
          </p:cNvSpPr>
          <p:nvPr/>
        </p:nvSpPr>
        <p:spPr>
          <a:xfrm>
            <a:off x="2093463" y="2538744"/>
            <a:ext cx="8229600" cy="11430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b="1" dirty="0" smtClean="0"/>
              <a:t>Taller 2.  Factores ambientales y </a:t>
            </a:r>
            <a:r>
              <a:rPr lang="es-CO" sz="4000" b="1" dirty="0"/>
              <a:t> </a:t>
            </a:r>
            <a:r>
              <a:rPr lang="es-CO" sz="4000" b="1" dirty="0" smtClean="0"/>
              <a:t>Activos del Negocio</a:t>
            </a:r>
            <a:endParaRPr lang="es-CO" sz="1600" b="1" dirty="0"/>
          </a:p>
        </p:txBody>
      </p:sp>
    </p:spTree>
    <p:extLst>
      <p:ext uri="{BB962C8B-B14F-4D97-AF65-F5344CB8AC3E}">
        <p14:creationId xmlns:p14="http://schemas.microsoft.com/office/powerpoint/2010/main" val="25956302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4" name="2 Grupo"/>
          <p:cNvGrpSpPr>
            <a:grpSpLocks/>
          </p:cNvGrpSpPr>
          <p:nvPr/>
        </p:nvGrpSpPr>
        <p:grpSpPr bwMode="auto">
          <a:xfrm>
            <a:off x="1381126" y="-11749"/>
            <a:ext cx="9286875" cy="7043738"/>
            <a:chOff x="-142908" y="0"/>
            <a:chExt cx="9286908" cy="7042960"/>
          </a:xfrm>
        </p:grpSpPr>
        <p:pic>
          <p:nvPicPr>
            <p:cNvPr id="5"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7" name="Rectangle 14"/>
          <p:cNvSpPr txBox="1">
            <a:spLocks noChangeArrowheads="1"/>
          </p:cNvSpPr>
          <p:nvPr/>
        </p:nvSpPr>
        <p:spPr>
          <a:xfrm>
            <a:off x="0" y="365125"/>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smtClean="0">
                <a:solidFill>
                  <a:schemeClr val="bg1"/>
                </a:solidFill>
              </a:rPr>
              <a:t>Herramientas &amp; Técnicas para el AC</a:t>
            </a:r>
            <a:endParaRPr lang="es-ES" sz="3200" dirty="0">
              <a:solidFill>
                <a:schemeClr val="bg1"/>
              </a:solidFill>
            </a:endParaRPr>
          </a:p>
        </p:txBody>
      </p:sp>
      <p:sp>
        <p:nvSpPr>
          <p:cNvPr id="8" name="56 CuadroTexto"/>
          <p:cNvSpPr txBox="1"/>
          <p:nvPr/>
        </p:nvSpPr>
        <p:spPr>
          <a:xfrm>
            <a:off x="1526339" y="1985080"/>
            <a:ext cx="9144000" cy="646331"/>
          </a:xfrm>
          <a:prstGeom prst="rect">
            <a:avLst/>
          </a:prstGeom>
          <a:noFill/>
        </p:spPr>
        <p:txBody>
          <a:bodyPr wrap="square" rtlCol="0">
            <a:spAutoFit/>
          </a:bodyPr>
          <a:lstStyle/>
          <a:p>
            <a:pPr algn="just"/>
            <a:r>
              <a:rPr lang="es-ES" b="1" dirty="0"/>
              <a:t>Juicio de Expertos:  </a:t>
            </a:r>
            <a:r>
              <a:rPr lang="es-CO" dirty="0"/>
              <a:t>Para este proceso, se debería considerar la pericia de individuos o grupos con capacitación o conocimientos especializados en los siguientes temas</a:t>
            </a:r>
            <a:r>
              <a:rPr lang="es-ES" dirty="0"/>
              <a:t>.  </a:t>
            </a:r>
          </a:p>
        </p:txBody>
      </p:sp>
      <p:sp>
        <p:nvSpPr>
          <p:cNvPr id="9" name="61 CuadroTexto"/>
          <p:cNvSpPr txBox="1"/>
          <p:nvPr/>
        </p:nvSpPr>
        <p:spPr>
          <a:xfrm>
            <a:off x="1526339" y="4918742"/>
            <a:ext cx="8964488" cy="923330"/>
          </a:xfrm>
          <a:prstGeom prst="rect">
            <a:avLst/>
          </a:prstGeom>
          <a:noFill/>
        </p:spPr>
        <p:txBody>
          <a:bodyPr wrap="square" rtlCol="0">
            <a:spAutoFit/>
          </a:bodyPr>
          <a:lstStyle/>
          <a:p>
            <a:pPr algn="just"/>
            <a:r>
              <a:rPr lang="es-ES" b="1" dirty="0"/>
              <a:t>Reuniones:  </a:t>
            </a:r>
            <a:r>
              <a:rPr lang="es-CO" dirty="0"/>
              <a:t>Se mantienen reuniones con interesados clave para identificar los objetivos, criterios de éxito,  entregables clave, requisitos de alto nivel, resumen de hitos y otra información resumida del proyecto.</a:t>
            </a:r>
            <a:endParaRPr lang="es-ES" dirty="0"/>
          </a:p>
        </p:txBody>
      </p:sp>
      <p:pic>
        <p:nvPicPr>
          <p:cNvPr id="10" name="Imagen 9"/>
          <p:cNvPicPr>
            <a:picLocks noChangeAspect="1"/>
          </p:cNvPicPr>
          <p:nvPr/>
        </p:nvPicPr>
        <p:blipFill>
          <a:blip r:embed="rId4"/>
          <a:stretch>
            <a:fillRect/>
          </a:stretch>
        </p:blipFill>
        <p:spPr>
          <a:xfrm>
            <a:off x="3767850" y="2778716"/>
            <a:ext cx="5849690" cy="1667539"/>
          </a:xfrm>
          <a:prstGeom prst="rect">
            <a:avLst/>
          </a:prstGeom>
        </p:spPr>
      </p:pic>
    </p:spTree>
    <p:extLst>
      <p:ext uri="{BB962C8B-B14F-4D97-AF65-F5344CB8AC3E}">
        <p14:creationId xmlns:p14="http://schemas.microsoft.com/office/powerpoint/2010/main" val="5396715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4" name="2 Grupo"/>
          <p:cNvGrpSpPr>
            <a:grpSpLocks/>
          </p:cNvGrpSpPr>
          <p:nvPr/>
        </p:nvGrpSpPr>
        <p:grpSpPr bwMode="auto">
          <a:xfrm>
            <a:off x="1381126" y="-11749"/>
            <a:ext cx="9286875" cy="7043738"/>
            <a:chOff x="-142908" y="0"/>
            <a:chExt cx="9286908" cy="7042960"/>
          </a:xfrm>
        </p:grpSpPr>
        <p:pic>
          <p:nvPicPr>
            <p:cNvPr id="5"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7" name="Rectangle 14"/>
          <p:cNvSpPr txBox="1">
            <a:spLocks noChangeArrowheads="1"/>
          </p:cNvSpPr>
          <p:nvPr/>
        </p:nvSpPr>
        <p:spPr>
          <a:xfrm>
            <a:off x="748444" y="306778"/>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smtClean="0">
                <a:solidFill>
                  <a:schemeClr val="bg1"/>
                </a:solidFill>
              </a:rPr>
              <a:t>Herramientas &amp; Técnicas para el AC</a:t>
            </a:r>
            <a:endParaRPr lang="es-ES" sz="3200" dirty="0">
              <a:solidFill>
                <a:schemeClr val="bg1"/>
              </a:solidFill>
            </a:endParaRPr>
          </a:p>
        </p:txBody>
      </p:sp>
      <p:sp>
        <p:nvSpPr>
          <p:cNvPr id="8" name="56 CuadroTexto"/>
          <p:cNvSpPr txBox="1"/>
          <p:nvPr/>
        </p:nvSpPr>
        <p:spPr>
          <a:xfrm>
            <a:off x="1524000" y="1793430"/>
            <a:ext cx="9144000" cy="2185214"/>
          </a:xfrm>
          <a:prstGeom prst="rect">
            <a:avLst/>
          </a:prstGeom>
          <a:noFill/>
        </p:spPr>
        <p:txBody>
          <a:bodyPr wrap="square" rtlCol="0">
            <a:spAutoFit/>
          </a:bodyPr>
          <a:lstStyle/>
          <a:p>
            <a:pPr algn="just"/>
            <a:r>
              <a:rPr lang="es-ES" b="1" dirty="0"/>
              <a:t>Recopilación de Datos:  </a:t>
            </a:r>
            <a:r>
              <a:rPr lang="es-CO" dirty="0"/>
              <a:t> </a:t>
            </a:r>
          </a:p>
          <a:p>
            <a:pPr marL="742950" lvl="1" indent="-285750" algn="just">
              <a:buFont typeface="Arial" panose="020B0604020202020204" pitchFamily="34" charset="0"/>
              <a:buChar char="•"/>
            </a:pPr>
            <a:r>
              <a:rPr lang="es-CO" b="1" dirty="0"/>
              <a:t>Tormenta de Ideas:  </a:t>
            </a:r>
            <a:r>
              <a:rPr lang="es-CO" sz="1600" dirty="0"/>
              <a:t>Se utiliza para identificar una lista de ideas en un corto período de tiempo. Se  lleva a cabo en un entorno de grupo y es liderada por un facilitador</a:t>
            </a:r>
          </a:p>
          <a:p>
            <a:pPr marL="742950" lvl="1" indent="-285750" algn="just">
              <a:buFont typeface="Arial" panose="020B0604020202020204" pitchFamily="34" charset="0"/>
              <a:buChar char="•"/>
            </a:pPr>
            <a:r>
              <a:rPr lang="es-CO" b="1" dirty="0"/>
              <a:t>Grupos Focales:  </a:t>
            </a:r>
            <a:r>
              <a:rPr lang="es-CO" sz="1600" dirty="0"/>
              <a:t>reúnen a interesados y expertos en la materia para conocer sobre el riesgo percibido del proyecto</a:t>
            </a:r>
          </a:p>
          <a:p>
            <a:pPr marL="742950" lvl="1" indent="-285750" algn="just">
              <a:buFont typeface="Arial" panose="020B0604020202020204" pitchFamily="34" charset="0"/>
              <a:buChar char="•"/>
            </a:pPr>
            <a:r>
              <a:rPr lang="es-CO" b="1" dirty="0"/>
              <a:t>Entrevistas: </a:t>
            </a:r>
            <a:r>
              <a:rPr lang="es-CO" sz="1600" dirty="0"/>
              <a:t>se utilizan para obtener información sobre requisitos de alto nivel, supuestos o restricciones, y criterios de aprobación</a:t>
            </a:r>
          </a:p>
          <a:p>
            <a:pPr marL="742950" lvl="1" indent="-285750" algn="just">
              <a:buFont typeface="Arial" panose="020B0604020202020204" pitchFamily="34" charset="0"/>
              <a:buChar char="•"/>
            </a:pPr>
            <a:endParaRPr lang="es-ES" sz="1600" dirty="0"/>
          </a:p>
        </p:txBody>
      </p:sp>
      <p:sp>
        <p:nvSpPr>
          <p:cNvPr id="9" name="61 CuadroTexto"/>
          <p:cNvSpPr txBox="1"/>
          <p:nvPr/>
        </p:nvSpPr>
        <p:spPr>
          <a:xfrm>
            <a:off x="1524000" y="4203548"/>
            <a:ext cx="8964488" cy="2739211"/>
          </a:xfrm>
          <a:prstGeom prst="rect">
            <a:avLst/>
          </a:prstGeom>
          <a:noFill/>
        </p:spPr>
        <p:txBody>
          <a:bodyPr wrap="square" rtlCol="0">
            <a:spAutoFit/>
          </a:bodyPr>
          <a:lstStyle/>
          <a:p>
            <a:pPr algn="just"/>
            <a:r>
              <a:rPr lang="es-ES" b="1" dirty="0"/>
              <a:t>Habilidades interpersonales y de equipo:</a:t>
            </a:r>
          </a:p>
          <a:p>
            <a:pPr marL="742950" lvl="1" indent="-285750" algn="just">
              <a:buFont typeface="Arial" panose="020B0604020202020204" pitchFamily="34" charset="0"/>
              <a:buChar char="•"/>
            </a:pPr>
            <a:r>
              <a:rPr lang="es-ES" b="1" dirty="0"/>
              <a:t>Gestión de conflictos:   </a:t>
            </a:r>
            <a:r>
              <a:rPr lang="es-ES" dirty="0"/>
              <a:t> </a:t>
            </a:r>
            <a:r>
              <a:rPr lang="es-CO" sz="1600" dirty="0"/>
              <a:t>La gestión de conflictos puede utilizarse para ayudar a alinear a los interesados con respecto a los objetivos, criterios de éxito, requisitos de alto nivel, descripción del proyecto, resumen de hitos y otros.</a:t>
            </a:r>
          </a:p>
          <a:p>
            <a:pPr marL="742950" lvl="1" indent="-285750" algn="just">
              <a:buFont typeface="Arial" panose="020B0604020202020204" pitchFamily="34" charset="0"/>
              <a:buChar char="•"/>
            </a:pPr>
            <a:r>
              <a:rPr lang="es-ES" b="1" dirty="0"/>
              <a:t>Facilitación:   </a:t>
            </a:r>
            <a:r>
              <a:rPr lang="es-CO" sz="1600" dirty="0"/>
              <a:t>capacidad de guiar eficazmente un evento grupal hacia una decisión, solución o conclusión exitosa.</a:t>
            </a:r>
          </a:p>
          <a:p>
            <a:pPr marL="742950" lvl="1" indent="-285750" algn="just">
              <a:buFont typeface="Arial" panose="020B0604020202020204" pitchFamily="34" charset="0"/>
              <a:buChar char="•"/>
            </a:pPr>
            <a:r>
              <a:rPr lang="es-ES" b="1" dirty="0"/>
              <a:t>Gestión de Reuniones: </a:t>
            </a:r>
            <a:r>
              <a:rPr lang="es-CO" sz="1600" dirty="0"/>
              <a:t>La gestión de reuniones incluye preparar la agenda, asegurarse de invitar a un representante de cada grupo clave de interesados</a:t>
            </a:r>
            <a:endParaRPr lang="es-ES" sz="1600" dirty="0"/>
          </a:p>
          <a:p>
            <a:pPr algn="just"/>
            <a:endParaRPr lang="es-ES" dirty="0"/>
          </a:p>
          <a:p>
            <a:pPr algn="just"/>
            <a:endParaRPr lang="es-ES" dirty="0"/>
          </a:p>
        </p:txBody>
      </p:sp>
    </p:spTree>
    <p:extLst>
      <p:ext uri="{BB962C8B-B14F-4D97-AF65-F5344CB8AC3E}">
        <p14:creationId xmlns:p14="http://schemas.microsoft.com/office/powerpoint/2010/main" val="29151060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4" name="2 Grupo"/>
          <p:cNvGrpSpPr>
            <a:grpSpLocks/>
          </p:cNvGrpSpPr>
          <p:nvPr/>
        </p:nvGrpSpPr>
        <p:grpSpPr bwMode="auto">
          <a:xfrm>
            <a:off x="1198246" y="0"/>
            <a:ext cx="9286875" cy="7043738"/>
            <a:chOff x="-142908" y="0"/>
            <a:chExt cx="9286908" cy="7042960"/>
          </a:xfrm>
        </p:grpSpPr>
        <p:pic>
          <p:nvPicPr>
            <p:cNvPr id="5"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7" name="Rectangle 2"/>
          <p:cNvSpPr txBox="1">
            <a:spLocks noChangeArrowheads="1"/>
          </p:cNvSpPr>
          <p:nvPr/>
        </p:nvSpPr>
        <p:spPr>
          <a:xfrm>
            <a:off x="1617948" y="267103"/>
            <a:ext cx="2721296" cy="1143000"/>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a:defRPr/>
            </a:pPr>
            <a:r>
              <a:rPr lang="es-MX" sz="4400" dirty="0">
                <a:solidFill>
                  <a:schemeClr val="bg1"/>
                </a:solidFill>
              </a:rPr>
              <a:t>EJEMPLO:</a:t>
            </a:r>
            <a:endParaRPr lang="es-ES" sz="4400" dirty="0">
              <a:solidFill>
                <a:schemeClr val="bg1"/>
              </a:solidFill>
            </a:endParaRPr>
          </a:p>
        </p:txBody>
      </p:sp>
      <p:pic>
        <p:nvPicPr>
          <p:cNvPr id="8" name="1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7992" y="898892"/>
            <a:ext cx="4218209" cy="5308979"/>
          </a:xfrm>
          <a:prstGeom prst="rect">
            <a:avLst/>
          </a:prstGeom>
        </p:spPr>
      </p:pic>
      <p:pic>
        <p:nvPicPr>
          <p:cNvPr id="9"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13040" y="942243"/>
            <a:ext cx="4518921" cy="5265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78197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4" name="2 Grupo"/>
          <p:cNvGrpSpPr>
            <a:grpSpLocks/>
          </p:cNvGrpSpPr>
          <p:nvPr/>
        </p:nvGrpSpPr>
        <p:grpSpPr bwMode="auto">
          <a:xfrm>
            <a:off x="1381126" y="-11749"/>
            <a:ext cx="9286875" cy="7043738"/>
            <a:chOff x="-142908" y="0"/>
            <a:chExt cx="9286908" cy="7042960"/>
          </a:xfrm>
        </p:grpSpPr>
        <p:pic>
          <p:nvPicPr>
            <p:cNvPr id="5"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7" name="Text Box 4"/>
          <p:cNvSpPr txBox="1">
            <a:spLocks noChangeArrowheads="1"/>
          </p:cNvSpPr>
          <p:nvPr/>
        </p:nvSpPr>
        <p:spPr bwMode="auto">
          <a:xfrm>
            <a:off x="2410050" y="2478038"/>
            <a:ext cx="7272337" cy="2893100"/>
          </a:xfrm>
          <a:prstGeom prst="rect">
            <a:avLst/>
          </a:prstGeom>
          <a:noFill/>
          <a:ln w="9525">
            <a:noFill/>
            <a:miter lim="800000"/>
            <a:headEnd/>
            <a:tailEnd/>
          </a:ln>
          <a:effectLst/>
        </p:spPr>
        <p:txBody>
          <a:bodyPr>
            <a:spAutoFit/>
          </a:bodyPr>
          <a:lstStyle/>
          <a:p>
            <a:pPr algn="ctr">
              <a:spcBef>
                <a:spcPct val="50000"/>
              </a:spcBef>
            </a:pPr>
            <a:r>
              <a:rPr lang="es-AR" sz="4000" b="1" dirty="0">
                <a:solidFill>
                  <a:schemeClr val="tx2"/>
                </a:solidFill>
              </a:rPr>
              <a:t>MODELO DE ACTA DE CONSTITUCIÓN</a:t>
            </a:r>
          </a:p>
          <a:p>
            <a:pPr algn="ctr">
              <a:spcBef>
                <a:spcPct val="50000"/>
              </a:spcBef>
            </a:pPr>
            <a:r>
              <a:rPr lang="es-AR" sz="2800" b="1" dirty="0">
                <a:solidFill>
                  <a:schemeClr val="tx2"/>
                </a:solidFill>
              </a:rPr>
              <a:t>(Según PMI)</a:t>
            </a:r>
          </a:p>
          <a:p>
            <a:pPr algn="ctr">
              <a:spcBef>
                <a:spcPct val="50000"/>
              </a:spcBef>
            </a:pPr>
            <a:endParaRPr lang="es-ES" sz="4000" b="1" dirty="0">
              <a:solidFill>
                <a:schemeClr val="tx2"/>
              </a:solidFill>
            </a:endParaRPr>
          </a:p>
        </p:txBody>
      </p:sp>
    </p:spTree>
    <p:extLst>
      <p:ext uri="{BB962C8B-B14F-4D97-AF65-F5344CB8AC3E}">
        <p14:creationId xmlns:p14="http://schemas.microsoft.com/office/powerpoint/2010/main" val="11304893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normAutofit/>
          </a:bodyPr>
          <a:lstStyle/>
          <a:p>
            <a:pPr algn="ctr"/>
            <a:r>
              <a:rPr lang="es-CO" dirty="0">
                <a:solidFill>
                  <a:schemeClr val="bg1"/>
                </a:solidFill>
              </a:rPr>
              <a:t>ADMINISTRACIÓN DE PROYECTOS</a:t>
            </a:r>
          </a:p>
        </p:txBody>
      </p:sp>
      <p:grpSp>
        <p:nvGrpSpPr>
          <p:cNvPr id="4" name="2 Grupo"/>
          <p:cNvGrpSpPr>
            <a:grpSpLocks/>
          </p:cNvGrpSpPr>
          <p:nvPr/>
        </p:nvGrpSpPr>
        <p:grpSpPr bwMode="auto">
          <a:xfrm>
            <a:off x="1381126" y="-11749"/>
            <a:ext cx="9286875" cy="7043738"/>
            <a:chOff x="-142908" y="0"/>
            <a:chExt cx="9286908" cy="7042960"/>
          </a:xfrm>
        </p:grpSpPr>
        <p:pic>
          <p:nvPicPr>
            <p:cNvPr id="5" name="3 Imagen" descr="Imagen2.jpg"/>
            <p:cNvPicPr>
              <a:picLocks noChangeAspect="1"/>
            </p:cNvPicPr>
            <p:nvPr/>
          </p:nvPicPr>
          <p:blipFill>
            <a:blip r:embed="rId2" cstate="print"/>
            <a:srcRect b="4166"/>
            <a:stretch>
              <a:fillRect/>
            </a:stretch>
          </p:blipFill>
          <p:spPr bwMode="auto">
            <a:xfrm>
              <a:off x="0" y="0"/>
              <a:ext cx="9144000" cy="685800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42908" y="5857892"/>
              <a:ext cx="2428860" cy="1185068"/>
            </a:xfrm>
            <a:prstGeom prst="rect">
              <a:avLst/>
            </a:prstGeom>
            <a:noFill/>
            <a:ln w="9525">
              <a:noFill/>
              <a:miter lim="800000"/>
              <a:headEnd/>
              <a:tailEnd/>
            </a:ln>
          </p:spPr>
        </p:pic>
      </p:grpSp>
      <p:sp>
        <p:nvSpPr>
          <p:cNvPr id="7" name="3 CuadroTexto"/>
          <p:cNvSpPr txBox="1"/>
          <p:nvPr/>
        </p:nvSpPr>
        <p:spPr>
          <a:xfrm>
            <a:off x="2078657" y="2120950"/>
            <a:ext cx="8034686" cy="3339376"/>
          </a:xfrm>
          <a:prstGeom prst="rect">
            <a:avLst/>
          </a:prstGeom>
          <a:noFill/>
        </p:spPr>
        <p:txBody>
          <a:bodyPr wrap="square" rtlCol="0">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CO" sz="8000" b="1" dirty="0"/>
              <a:t>Gracias…</a:t>
            </a:r>
          </a:p>
          <a:p>
            <a:pPr algn="ctr"/>
            <a:r>
              <a:rPr lang="es-CO" sz="2500" b="1" dirty="0"/>
              <a:t>pilar.rojas@mail.udes.edu.co</a:t>
            </a:r>
          </a:p>
          <a:p>
            <a:pPr algn="ctr"/>
            <a:endParaRPr lang="es-CO" sz="6600" b="1" dirty="0"/>
          </a:p>
          <a:p>
            <a:pPr algn="ctr"/>
            <a:r>
              <a:rPr lang="es-CO" sz="4000" b="1" dirty="0"/>
              <a:t> </a:t>
            </a:r>
          </a:p>
        </p:txBody>
      </p:sp>
    </p:spTree>
    <p:extLst>
      <p:ext uri="{BB962C8B-B14F-4D97-AF65-F5344CB8AC3E}">
        <p14:creationId xmlns:p14="http://schemas.microsoft.com/office/powerpoint/2010/main" val="1450483115"/>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1058</Words>
  <Application>Microsoft Office PowerPoint</Application>
  <PresentationFormat>Panorámica</PresentationFormat>
  <Paragraphs>119</Paragraphs>
  <Slides>16</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16</vt:i4>
      </vt:variant>
    </vt:vector>
  </HeadingPairs>
  <TitlesOfParts>
    <vt:vector size="24" baseType="lpstr">
      <vt:lpstr>Arial</vt:lpstr>
      <vt:lpstr>Arial Narrow</vt:lpstr>
      <vt:lpstr>Calibri</vt:lpstr>
      <vt:lpstr>Calibri Light</vt:lpstr>
      <vt:lpstr>Palatino Linotype</vt:lpstr>
      <vt:lpstr>Verdana</vt:lpstr>
      <vt:lpstr>Wingdings</vt:lpstr>
      <vt:lpstr>Tema de Office</vt:lpstr>
      <vt:lpstr>SEMANA 1-2:   Gestión de Integración  </vt:lpstr>
      <vt:lpstr>ADMINISTRACIÓN DE PROYECTOS</vt:lpstr>
      <vt:lpstr>CICLO DE VIDA DE LOS PROYECTOS</vt:lpstr>
      <vt:lpstr>ADMINISTRACIÓN DE PROYECTOS</vt:lpstr>
      <vt:lpstr>ADMINISTRACIÓN DE PROYECTOS</vt:lpstr>
      <vt:lpstr>ADMINISTRACIÓN DE PROYECTOS</vt:lpstr>
      <vt:lpstr>GRUPO  DE PROCESOS DE GESTION DE INTEGRACION</vt:lpstr>
      <vt:lpstr>ADMINISTRACIÓN DE PROYECTOS</vt:lpstr>
      <vt:lpstr>ADMINISTRACIÓN DE PROYECTOS</vt:lpstr>
      <vt:lpstr>ADMINISTRACIÓN DE PROYECTOS</vt:lpstr>
      <vt:lpstr>ADMINISTRACIÓN DE PROYECTOS</vt:lpstr>
      <vt:lpstr>ADMINISTRACIÓN DE PROYECTOS</vt:lpstr>
      <vt:lpstr>ADMINISTRACIÓN DE PROYECTOS</vt:lpstr>
      <vt:lpstr>ADMINISTRACIÓN DE PROYECTOS</vt:lpstr>
      <vt:lpstr>ADMINISTRACIÓN DE PROYECTOS</vt:lpstr>
      <vt:lpstr>ADMINISTRACIÓN DE PROYECTOS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1:   Gestión de Integración y Alcance de los Proyectos</dc:title>
  <dc:creator>USUARIO</dc:creator>
  <cp:lastModifiedBy>USUARIO</cp:lastModifiedBy>
  <cp:revision>11</cp:revision>
  <dcterms:created xsi:type="dcterms:W3CDTF">2026-02-03T02:28:00Z</dcterms:created>
  <dcterms:modified xsi:type="dcterms:W3CDTF">2026-02-03T03:37:13Z</dcterms:modified>
</cp:coreProperties>
</file>