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9"/>
  </p:notesMasterIdLst>
  <p:sldIdLst>
    <p:sldId id="257" r:id="rId2"/>
    <p:sldId id="261" r:id="rId3"/>
    <p:sldId id="277" r:id="rId4"/>
    <p:sldId id="265" r:id="rId5"/>
    <p:sldId id="278" r:id="rId6"/>
    <p:sldId id="271" r:id="rId7"/>
    <p:sldId id="27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016" autoAdjust="0"/>
  </p:normalViewPr>
  <p:slideViewPr>
    <p:cSldViewPr snapToGrid="0">
      <p:cViewPr varScale="1">
        <p:scale>
          <a:sx n="83" d="100"/>
          <a:sy n="83" d="100"/>
        </p:scale>
        <p:origin x="10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32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BC0FA-207C-4399-9B1D-82C41B01ED77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EBDD1-F27C-4A7E-80F6-480E6AA6C8C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6727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07DA-1C65-472B-A02B-DE4EB7AC6EA2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D7C0-10A0-4BBC-9A50-6213E57787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366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2"/>
            <a:ext cx="9144000" cy="68557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07DA-1C65-472B-A02B-DE4EB7AC6EA2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D7C0-10A0-4BBC-9A50-6213E57787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958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2"/>
            <a:ext cx="9144000" cy="68557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07DA-1C65-472B-A02B-DE4EB7AC6EA2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D7C0-10A0-4BBC-9A50-6213E57787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2763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2"/>
            <a:ext cx="9144000" cy="68557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07DA-1C65-472B-A02B-DE4EB7AC6EA2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D7C0-10A0-4BBC-9A50-6213E57787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230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2"/>
            <a:ext cx="9144000" cy="68557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07DA-1C65-472B-A02B-DE4EB7AC6EA2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D7C0-10A0-4BBC-9A50-6213E57787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0944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2"/>
            <a:ext cx="9144000" cy="68557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07DA-1C65-472B-A02B-DE4EB7AC6EA2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D7C0-10A0-4BBC-9A50-6213E57787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336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2"/>
            <a:ext cx="9144000" cy="68557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07DA-1C65-472B-A02B-DE4EB7AC6EA2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D7C0-10A0-4BBC-9A50-6213E57787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5310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2"/>
            <a:ext cx="9144000" cy="68557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07DA-1C65-472B-A02B-DE4EB7AC6EA2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D7C0-10A0-4BBC-9A50-6213E57787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777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2"/>
            <a:ext cx="9144000" cy="68557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07DA-1C65-472B-A02B-DE4EB7AC6EA2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D7C0-10A0-4BBC-9A50-6213E57787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903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2"/>
            <a:ext cx="9144000" cy="68557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07DA-1C65-472B-A02B-DE4EB7AC6EA2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D7C0-10A0-4BBC-9A50-6213E57787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364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2"/>
            <a:ext cx="9144000" cy="6855715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07DA-1C65-472B-A02B-DE4EB7AC6EA2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D7C0-10A0-4BBC-9A50-6213E57787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5826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07DA-1C65-472B-A02B-DE4EB7AC6EA2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D7C0-10A0-4BBC-9A50-6213E57787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8571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807DA-1C65-472B-A02B-DE4EB7AC6EA2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3D7C0-10A0-4BBC-9A50-6213E57787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151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youtu.be/vlEFio5RaMI?list=RDvlEFio5RaM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Colombia" TargetMode="External"/><Relationship Id="rId2" Type="http://schemas.openxmlformats.org/officeDocument/2006/relationships/hyperlink" Target="https://es.wikipedia.org/wiki/Salario_m%C3%ADnimo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s.wikipedia.org/wiki/Inflaci%C3%B3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Ministerio_de_la_Protecci%C3%B3n_Social_(Colombia)" TargetMode="External"/><Relationship Id="rId2" Type="http://schemas.openxmlformats.org/officeDocument/2006/relationships/hyperlink" Target="https://historicosalariominimocolombia.com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es.wikipedia.org/wiki/Producto_interno_bruto" TargetMode="External"/><Relationship Id="rId4" Type="http://schemas.openxmlformats.org/officeDocument/2006/relationships/hyperlink" Target="https://es.wikipedia.org/wiki/Banco_de_la_Rep%C3%BAblica_(Colombia)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D4ADB-8C7B-9442-9B40-12723BF4A63A}"/>
              </a:ext>
            </a:extLst>
          </p:cNvPr>
          <p:cNvSpPr txBox="1">
            <a:spLocks/>
          </p:cNvSpPr>
          <p:nvPr/>
        </p:nvSpPr>
        <p:spPr>
          <a:xfrm>
            <a:off x="228276" y="4520656"/>
            <a:ext cx="8455435" cy="9520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4800" b="1" dirty="0">
                <a:solidFill>
                  <a:srgbClr val="002060"/>
                </a:solidFill>
                <a:latin typeface="Bodoni MT" panose="02000000000000000000" pitchFamily="2" charset="0"/>
                <a:ea typeface="Bodoni MT" panose="02000000000000000000" pitchFamily="2" charset="0"/>
              </a:rPr>
              <a:t>SALARIO MÍNIMO</a:t>
            </a:r>
            <a:endParaRPr lang="es-AR" sz="4800" b="1" dirty="0">
              <a:solidFill>
                <a:srgbClr val="002060"/>
              </a:solidFill>
              <a:latin typeface="Bodoni MT" panose="02000000000000000000" pitchFamily="2" charset="0"/>
              <a:ea typeface="Bodoni MT" panose="02000000000000000000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984252-D20D-C145-85E0-999B2E07C469}"/>
              </a:ext>
            </a:extLst>
          </p:cNvPr>
          <p:cNvSpPr txBox="1">
            <a:spLocks/>
          </p:cNvSpPr>
          <p:nvPr/>
        </p:nvSpPr>
        <p:spPr>
          <a:xfrm>
            <a:off x="0" y="5786651"/>
            <a:ext cx="8911988" cy="9426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dirty="0">
                <a:latin typeface="Bodoni MT" panose="02070603080606020203" pitchFamily="18" charset="0"/>
              </a:rPr>
              <a:t>Curso 07066 – Evaluación Financiera de Proyectos</a:t>
            </a:r>
          </a:p>
          <a:p>
            <a:pPr marL="0" indent="0" algn="ctr">
              <a:buNone/>
            </a:pPr>
            <a:r>
              <a:rPr lang="es-ES" sz="2400" dirty="0">
                <a:latin typeface="Bodoni MT" panose="02070603080606020203" pitchFamily="18" charset="0"/>
              </a:rPr>
              <a:t>Taller # 02</a:t>
            </a:r>
            <a:endParaRPr lang="es-AR" sz="2400" dirty="0">
              <a:latin typeface="Bodoni MT" panose="02070603080606020203" pitchFamily="18" charset="0"/>
            </a:endParaRPr>
          </a:p>
        </p:txBody>
      </p:sp>
      <p:pic>
        <p:nvPicPr>
          <p:cNvPr id="2050" name="Picture 2" descr="UDES Radio Cucuta - Apps on Google Play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2F2F2"/>
              </a:clrFrom>
              <a:clrTo>
                <a:srgbClr val="F2F2F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949" y="5877949"/>
            <a:ext cx="980051" cy="980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55561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C8185A4-7429-4FA8-9F9B-DD9DD85D915C}"/>
              </a:ext>
            </a:extLst>
          </p:cNvPr>
          <p:cNvSpPr/>
          <p:nvPr/>
        </p:nvSpPr>
        <p:spPr>
          <a:xfrm>
            <a:off x="0" y="112888"/>
            <a:ext cx="9143999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El </a:t>
            </a:r>
            <a:r>
              <a:rPr lang="es-ES" b="1" dirty="0">
                <a:hlinkClick r:id="rId2" tooltip="Salario mínimo"/>
              </a:rPr>
              <a:t>salario mínimo</a:t>
            </a:r>
            <a:r>
              <a:rPr lang="es-ES" b="1" dirty="0"/>
              <a:t> en </a:t>
            </a:r>
            <a:r>
              <a:rPr lang="es-ES" b="1" dirty="0">
                <a:hlinkClick r:id="rId3" tooltip="Colombia"/>
              </a:rPr>
              <a:t>Colombia</a:t>
            </a:r>
            <a:r>
              <a:rPr lang="es-ES" dirty="0"/>
              <a:t> es el </a:t>
            </a:r>
            <a:r>
              <a:rPr lang="es-ES" i="1" dirty="0"/>
              <a:t>Salario mínimo mensual legal vigente</a:t>
            </a:r>
            <a:r>
              <a:rPr lang="es-ES" dirty="0"/>
              <a:t> (SMMLV), el cual se fija para periodos de un año y su riata de pago es mensual; pudiendo darse una diferente aplicación en el pago real; en muchas compañías colombianas se acostumbra a acordar el modo de pago y la forma de pago mediante una cláusula especial en el contrato de trabajo, pudiendo variar su modo de pago efectivo entre periodos quincenales o mensuales, y su forma de pago pudiendo ser esta en circundante; o en especie sin superar el 40 % del valor del mismo</a:t>
            </a:r>
          </a:p>
          <a:p>
            <a:pPr algn="just"/>
            <a:endParaRPr lang="es-ES" sz="1050" dirty="0">
              <a:solidFill>
                <a:srgbClr val="FF0000"/>
              </a:solidFill>
            </a:endParaRPr>
          </a:p>
          <a:p>
            <a:pPr algn="just"/>
            <a:r>
              <a:rPr lang="es-ES" b="1" dirty="0"/>
              <a:t>Orígenes</a:t>
            </a:r>
          </a:p>
          <a:p>
            <a:pPr algn="just"/>
            <a:r>
              <a:rPr lang="es-ES" dirty="0"/>
              <a:t>En 1945 se establece el salario mínimo legal (SML), con la Ley 6 de 1945.</a:t>
            </a:r>
            <a:r>
              <a:rPr lang="es-ES" baseline="30000" dirty="0"/>
              <a:t> </a:t>
            </a:r>
            <a:r>
              <a:rPr lang="es-ES" dirty="0"/>
              <a:t>El gobierno nacional podrá establecer salarios mínimos según el sector económico y la región. La ley se hizo efectiva en 1950, fijando por primera vez un SML de 2 pesos diarios.​ Hasta 1963, se caracterizó por la variedad de salarios mínimos que se decretaban, se diferenciaban por zona del país, tamaño de la empresa, sector económico y edad de los trabajadores, estableciendo un salario para los trabajadores menores de dieciséis años. Entre 1964 y 1983, el SML se determinaba por actividad económica (comercio, manufacturera, servicios, transporte, construcción, etc.) y por sector (urbano y rural).</a:t>
            </a:r>
          </a:p>
          <a:p>
            <a:pPr algn="just"/>
            <a:r>
              <a:rPr lang="es-ES" dirty="0"/>
              <a:t>En 1983 se logró la unificación del salario mínimo para la totalidad de los trabajadores colombianos.​ No existía una frecuencia fija de ajuste salarial, es decir, en varias ocasiones el ajuste se mantuvo por dos o tres años, o por el contrario se modifica el SML varias veces en un mismo año, siendo la </a:t>
            </a:r>
            <a:r>
              <a:rPr lang="es-ES" dirty="0">
                <a:hlinkClick r:id="rId4" tooltip="Inflación"/>
              </a:rPr>
              <a:t>inflación</a:t>
            </a:r>
            <a:r>
              <a:rPr lang="es-ES" dirty="0"/>
              <a:t> el determinante.</a:t>
            </a:r>
          </a:p>
          <a:p>
            <a:pPr algn="just"/>
            <a:r>
              <a:rPr lang="es-ES" dirty="0"/>
              <a:t>A partir de 1979 el ajuste salarial se empezó hacer anualmente, empezando a regir a partir de enero de cada año, como se realiza en la actualidad.</a:t>
            </a:r>
            <a:endParaRPr lang="es-ES" sz="1050" dirty="0">
              <a:solidFill>
                <a:srgbClr val="FF0000"/>
              </a:solidFill>
            </a:endParaRPr>
          </a:p>
          <a:p>
            <a:pPr algn="just"/>
            <a:endParaRPr lang="es-ES" sz="1050" dirty="0">
              <a:solidFill>
                <a:srgbClr val="FF0000"/>
              </a:solidFill>
            </a:endParaRPr>
          </a:p>
          <a:p>
            <a:pPr algn="r"/>
            <a:r>
              <a:rPr lang="es-ES" sz="1050" dirty="0">
                <a:solidFill>
                  <a:srgbClr val="FF0000"/>
                </a:solidFill>
              </a:rPr>
              <a:t>* Fuente: Tomado de https://es.wikipedia.org/wiki/Anexo:Salario_m%C3%ADnimo_en_Colombia</a:t>
            </a:r>
          </a:p>
        </p:txBody>
      </p:sp>
    </p:spTree>
    <p:extLst>
      <p:ext uri="{BB962C8B-B14F-4D97-AF65-F5344CB8AC3E}">
        <p14:creationId xmlns:p14="http://schemas.microsoft.com/office/powerpoint/2010/main" val="12370659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C8185A4-7429-4FA8-9F9B-DD9DD85D915C}"/>
              </a:ext>
            </a:extLst>
          </p:cNvPr>
          <p:cNvSpPr/>
          <p:nvPr/>
        </p:nvSpPr>
        <p:spPr>
          <a:xfrm>
            <a:off x="0" y="127878"/>
            <a:ext cx="9143999" cy="6070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b="1" dirty="0"/>
              <a:t>Actualidad</a:t>
            </a:r>
            <a:endParaRPr lang="es-ES" dirty="0"/>
          </a:p>
          <a:p>
            <a:pPr algn="just"/>
            <a:r>
              <a:rPr lang="es-ES" dirty="0"/>
              <a:t>El </a:t>
            </a:r>
            <a:r>
              <a:rPr lang="es-ES" dirty="0">
                <a:hlinkClick r:id="rId2"/>
              </a:rPr>
              <a:t>salario mínimo</a:t>
            </a:r>
            <a:r>
              <a:rPr lang="es-ES" dirty="0"/>
              <a:t> normalmente es acordado mediante una negociación entre los sindicatos y las mesas de concertación establecidas por medio de representantes del </a:t>
            </a:r>
            <a:r>
              <a:rPr lang="es-ES" i="1" dirty="0">
                <a:hlinkClick r:id="rId3" tooltip="Ministerio de la Protección Social (Colombia)"/>
              </a:rPr>
              <a:t>Ministerio de la Protección Social</a:t>
            </a:r>
            <a:r>
              <a:rPr lang="es-ES" dirty="0"/>
              <a:t>, con base a la inflación final causada del año inmediatamente anterior a la vigencia del salario.</a:t>
            </a:r>
          </a:p>
          <a:p>
            <a:pPr algn="just"/>
            <a:r>
              <a:rPr lang="es-ES" dirty="0"/>
              <a:t>Según el Artículo 8 (1996), los parámetros a considerar para fijar el salario mínimo son: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ES" dirty="0"/>
              <a:t>La inflación fijada para el siguiente año según el </a:t>
            </a:r>
            <a:r>
              <a:rPr lang="es-ES" dirty="0">
                <a:hlinkClick r:id="rId4" tooltip="Banco de la República (Colombia)"/>
              </a:rPr>
              <a:t>Banco de la República</a:t>
            </a:r>
            <a:r>
              <a:rPr lang="es-ES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ES" dirty="0"/>
              <a:t>Los productos acordados por una comisión tripartita que coordina la productividad en el Ministerio de Previsión Social.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ES" dirty="0"/>
              <a:t>La contribución de los salarios al ingreso nacional.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ES" dirty="0"/>
              <a:t>El aumento en el </a:t>
            </a:r>
            <a:r>
              <a:rPr lang="es-ES" dirty="0">
                <a:hlinkClick r:id="rId5" tooltip="Producto interno bruto"/>
              </a:rPr>
              <a:t>producto interno bruto</a:t>
            </a:r>
            <a:r>
              <a:rPr lang="es-ES" dirty="0"/>
              <a:t> (PIB).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ES" dirty="0"/>
              <a:t>El Índice de Precios al Consumidor.</a:t>
            </a:r>
          </a:p>
          <a:p>
            <a:pPr algn="just"/>
            <a:r>
              <a:rPr lang="es-ES" dirty="0"/>
              <a:t>Según el Artículo 146 (1) del Código del Trabajo, el salario mínimo deberá tomar en cuenta el costo de la vida, los patrones laborales, capacidad económica de los negocios y empleadores, y las condiciones de cada región y actividad. </a:t>
            </a:r>
          </a:p>
          <a:p>
            <a:pPr algn="just"/>
            <a:r>
              <a:rPr lang="es-ES" dirty="0"/>
              <a:t>Según el artículo 142 (2) del Código del Trabajo, los salarios mínimos para trabajadores del campo deben tomar en cuenta las prestaciones que da el empleador a los empleados en cuanto a habitación, cultivo, combustible y circunstancias similares que reducen el costo de la vida.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Cuando no hay un acuerdo, este se dicta finalmente por decreto emanado directamente por el presidente de la república.</a:t>
            </a:r>
          </a:p>
          <a:p>
            <a:pPr algn="r"/>
            <a:r>
              <a:rPr lang="es-ES" sz="1050" dirty="0">
                <a:solidFill>
                  <a:srgbClr val="FF0000"/>
                </a:solidFill>
              </a:rPr>
              <a:t>* Fuente: Tomado de https://es.wikipedia.org/wiki/Anexo:Salario_m%C3%ADnimo_en_Colombia</a:t>
            </a:r>
          </a:p>
        </p:txBody>
      </p:sp>
    </p:spTree>
    <p:extLst>
      <p:ext uri="{BB962C8B-B14F-4D97-AF65-F5344CB8AC3E}">
        <p14:creationId xmlns:p14="http://schemas.microsoft.com/office/powerpoint/2010/main" val="2656702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94675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s-ES" sz="2800" dirty="0"/>
              <a:t>Histórico – Salario mínimo</a:t>
            </a:r>
            <a:endParaRPr lang="es-CO" sz="28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4675"/>
            <a:ext cx="9144000" cy="356672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19921" y="4377128"/>
            <a:ext cx="8904158" cy="1200329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Escribe el año de tu nacimiento y el monto del salario mínimo de ese año.</a:t>
            </a:r>
          </a:p>
          <a:p>
            <a:r>
              <a:rPr lang="es-CO" b="1" dirty="0"/>
              <a:t>Nací en el año $369.500 COP</a:t>
            </a:r>
            <a:endParaRPr lang="es-ES" dirty="0"/>
          </a:p>
          <a:p>
            <a:endParaRPr lang="es-ES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953767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9587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s-ES" sz="2800" dirty="0"/>
              <a:t>Salario mínimo en dólares – comparativo algunos países</a:t>
            </a:r>
            <a:endParaRPr lang="es-CO" sz="28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t="2188"/>
          <a:stretch/>
        </p:blipFill>
        <p:spPr>
          <a:xfrm>
            <a:off x="0" y="629587"/>
            <a:ext cx="9144000" cy="4137777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185555" y="4796786"/>
            <a:ext cx="8958445" cy="1200329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¿Este año 2026, cuál es el salario mínimo (en dólares), en EE.UU. Y en España?</a:t>
            </a:r>
          </a:p>
          <a:p>
            <a:endParaRPr lang="es-ES" dirty="0"/>
          </a:p>
          <a:p>
            <a:endParaRPr lang="es-ES" dirty="0"/>
          </a:p>
          <a:p>
            <a:endParaRPr lang="es-CO" dirty="0"/>
          </a:p>
        </p:txBody>
      </p:sp>
      <p:pic>
        <p:nvPicPr>
          <p:cNvPr id="1026" name="Picture 2" descr="https://tse2.mm.bing.net/th/id/OIP.9G-MDB7ux3XMK7oeHYdaDwHaD5?pid=Api&amp;P=0&amp;h=18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55" y="5153866"/>
            <a:ext cx="1422045" cy="748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tse3.mm.bing.net/th/id/OIP.q-h72VXG0dtS1UrpjjADcgHaFI?pid=Api&amp;P=0&amp;h=18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807" y="5099372"/>
            <a:ext cx="1238511" cy="857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1864762" y="5284538"/>
            <a:ext cx="250335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USD </a:t>
            </a:r>
            <a:endParaRPr lang="es-CO" dirty="0"/>
          </a:p>
        </p:txBody>
      </p:sp>
      <p:sp>
        <p:nvSpPr>
          <p:cNvPr id="9" name="CuadroTexto 8"/>
          <p:cNvSpPr txBox="1"/>
          <p:nvPr/>
        </p:nvSpPr>
        <p:spPr>
          <a:xfrm>
            <a:off x="6383480" y="5262730"/>
            <a:ext cx="250335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USD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94016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03239" y="0"/>
            <a:ext cx="8922773" cy="67403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Considerando un escenario de un núcleo familiar conformado por cuatro (4) personas (de ellas dos adultos y dos menores de edad), para los estratos socioeconómicos 2 o 3, haz una lista de los gastos básicos mensuales y su monto estimado.</a:t>
            </a:r>
          </a:p>
          <a:p>
            <a:r>
              <a:rPr lang="es-ES" dirty="0"/>
              <a:t> </a:t>
            </a:r>
          </a:p>
          <a:p>
            <a:r>
              <a:rPr lang="es-ES" dirty="0"/>
              <a:t>                                adulto                                                            niño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CO" dirty="0"/>
          </a:p>
        </p:txBody>
      </p:sp>
      <p:pic>
        <p:nvPicPr>
          <p:cNvPr id="1026" name="Picture 2" descr="Mascota ambiental UDES Verde | Universidad de Santander - UDES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879" y="5217885"/>
            <a:ext cx="967864" cy="1007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B4438AA-E3E1-BC0E-7281-9F085B13F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330195"/>
              </p:ext>
            </p:extLst>
          </p:nvPr>
        </p:nvGraphicFramePr>
        <p:xfrm>
          <a:off x="528639" y="1412111"/>
          <a:ext cx="3302583" cy="5045689"/>
        </p:xfrm>
        <a:graphic>
          <a:graphicData uri="http://schemas.openxmlformats.org/drawingml/2006/table">
            <a:tbl>
              <a:tblPr/>
              <a:tblGrid>
                <a:gridCol w="1100861">
                  <a:extLst>
                    <a:ext uri="{9D8B030D-6E8A-4147-A177-3AD203B41FA5}">
                      <a16:colId xmlns:a16="http://schemas.microsoft.com/office/drawing/2014/main" val="3052250949"/>
                    </a:ext>
                  </a:extLst>
                </a:gridCol>
                <a:gridCol w="1100861">
                  <a:extLst>
                    <a:ext uri="{9D8B030D-6E8A-4147-A177-3AD203B41FA5}">
                      <a16:colId xmlns:a16="http://schemas.microsoft.com/office/drawing/2014/main" val="3636976602"/>
                    </a:ext>
                  </a:extLst>
                </a:gridCol>
                <a:gridCol w="1100861">
                  <a:extLst>
                    <a:ext uri="{9D8B030D-6E8A-4147-A177-3AD203B41FA5}">
                      <a16:colId xmlns:a16="http://schemas.microsoft.com/office/drawing/2014/main" val="1954575724"/>
                    </a:ext>
                  </a:extLst>
                </a:gridCol>
              </a:tblGrid>
              <a:tr h="354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Categoría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Descripción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Monto Estimado (COP)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763179"/>
                  </a:ext>
                </a:extLst>
              </a:tr>
              <a:tr h="520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b="1"/>
                        <a:t>Vivienda</a:t>
                      </a:r>
                      <a:endParaRPr lang="es-CO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000"/>
                        <a:t>Arriendo de un apartamento o casa pequeña.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$800.000 - $1.200.000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8425698"/>
                  </a:ext>
                </a:extLst>
              </a:tr>
              <a:tr h="364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b="1"/>
                        <a:t>Servicios Públicos</a:t>
                      </a:r>
                      <a:endParaRPr lang="es-CO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000"/>
                        <a:t>Agua, luz, gas y tasa de aseo.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/>
                        <a:t>$250.000 - $400.000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381268"/>
                  </a:ext>
                </a:extLst>
              </a:tr>
              <a:tr h="520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b="1"/>
                        <a:t>Alimentación</a:t>
                      </a:r>
                      <a:endParaRPr lang="es-CO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Mercado completo (proteínas, granos, aseo hogar).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$1.200.000 - $1.600.000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977093"/>
                  </a:ext>
                </a:extLst>
              </a:tr>
              <a:tr h="520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b="1"/>
                        <a:t>Educación</a:t>
                      </a:r>
                      <a:endParaRPr lang="es-CO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Pensiones (colegio distrital o privado económico) y útiles.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$300.000 - $600.000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534658"/>
                  </a:ext>
                </a:extLst>
              </a:tr>
              <a:tr h="520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b="1"/>
                        <a:t>Transporte</a:t>
                      </a:r>
                      <a:endParaRPr lang="es-CO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000"/>
                        <a:t>Pasajes de bus/transmilenio para 2 adultos.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$400.000 - $550.000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35790"/>
                  </a:ext>
                </a:extLst>
              </a:tr>
              <a:tr h="5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b="1"/>
                        <a:t>Conectividad</a:t>
                      </a:r>
                      <a:endParaRPr lang="es-CO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000"/>
                        <a:t>Plan de internet hogar y telefonía móvil.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$100.000 - $150.000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045339"/>
                  </a:ext>
                </a:extLst>
              </a:tr>
              <a:tr h="657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b="1"/>
                        <a:t>Salud</a:t>
                      </a:r>
                      <a:endParaRPr lang="es-CO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Copagos, medicamentos básicos o medicina prepagada básica.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$100.000 - $200.000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377831"/>
                  </a:ext>
                </a:extLst>
              </a:tr>
              <a:tr h="364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b="1"/>
                        <a:t>Varios / Imprevistos</a:t>
                      </a:r>
                      <a:endParaRPr lang="es-CO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Gastos menores o emergencias.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$150.000 - $250.000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570355"/>
                  </a:ext>
                </a:extLst>
              </a:tr>
              <a:tr h="208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---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---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---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776441"/>
                  </a:ext>
                </a:extLst>
              </a:tr>
              <a:tr h="354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b="1"/>
                        <a:t>TOTAL ESTIMADO</a:t>
                      </a:r>
                      <a:endParaRPr lang="es-CO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b="1" dirty="0"/>
                        <a:t>$3.300.000 - $4.950.000</a:t>
                      </a:r>
                      <a:endParaRPr lang="es-CO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072879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A071C47-F643-1068-5FDC-0F2673742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587894"/>
              </p:ext>
            </p:extLst>
          </p:nvPr>
        </p:nvGraphicFramePr>
        <p:xfrm>
          <a:off x="4572000" y="1314397"/>
          <a:ext cx="3614880" cy="5642464"/>
        </p:xfrm>
        <a:graphic>
          <a:graphicData uri="http://schemas.openxmlformats.org/drawingml/2006/table">
            <a:tbl>
              <a:tblPr/>
              <a:tblGrid>
                <a:gridCol w="1190949">
                  <a:extLst>
                    <a:ext uri="{9D8B030D-6E8A-4147-A177-3AD203B41FA5}">
                      <a16:colId xmlns:a16="http://schemas.microsoft.com/office/drawing/2014/main" val="1248947143"/>
                    </a:ext>
                  </a:extLst>
                </a:gridCol>
                <a:gridCol w="1275015">
                  <a:extLst>
                    <a:ext uri="{9D8B030D-6E8A-4147-A177-3AD203B41FA5}">
                      <a16:colId xmlns:a16="http://schemas.microsoft.com/office/drawing/2014/main" val="1634355728"/>
                    </a:ext>
                  </a:extLst>
                </a:gridCol>
                <a:gridCol w="1148916">
                  <a:extLst>
                    <a:ext uri="{9D8B030D-6E8A-4147-A177-3AD203B41FA5}">
                      <a16:colId xmlns:a16="http://schemas.microsoft.com/office/drawing/2014/main" val="2218090790"/>
                    </a:ext>
                  </a:extLst>
                </a:gridCol>
              </a:tblGrid>
              <a:tr h="535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Categoría Básica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597" marR="75895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Detalle Indispensable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716" marR="75895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Monto Estimado (COP)</a:t>
                      </a:r>
                      <a:endParaRPr lang="es-CO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716" marR="60716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474657"/>
                  </a:ext>
                </a:extLst>
              </a:tr>
              <a:tr h="70753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Alimentación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597" marR="75895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Comida en casa y refrigerios para el colegio.</a:t>
                      </a:r>
                    </a:p>
                  </a:txBody>
                  <a:tcPr marL="60716" marR="75895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$600.000 - $850.000</a:t>
                      </a:r>
                    </a:p>
                  </a:txBody>
                  <a:tcPr marL="60716" marR="60716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5547481"/>
                  </a:ext>
                </a:extLst>
              </a:tr>
              <a:tr h="70753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Educación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597" marR="75895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Pensión mensual (colegio parroquial o de barrio).</a:t>
                      </a:r>
                    </a:p>
                  </a:txBody>
                  <a:tcPr marL="60716" marR="75895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$350.000 - $600.000</a:t>
                      </a:r>
                    </a:p>
                  </a:txBody>
                  <a:tcPr marL="60716" marR="60716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156310"/>
                  </a:ext>
                </a:extLst>
              </a:tr>
              <a:tr h="70753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Transporte</a:t>
                      </a:r>
                      <a:endParaRPr lang="es-CO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597" marR="75895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Pasajes diarios (o ruta escolar económica).</a:t>
                      </a:r>
                    </a:p>
                  </a:txBody>
                  <a:tcPr marL="60716" marR="75895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$200.000 - $350.000</a:t>
                      </a:r>
                    </a:p>
                  </a:txBody>
                  <a:tcPr marL="60716" marR="60716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532928"/>
                  </a:ext>
                </a:extLst>
              </a:tr>
              <a:tr h="70753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Aseo Personal</a:t>
                      </a:r>
                      <a:endParaRPr lang="es-CO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597" marR="75895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Jabón, crema dental, champú y pañales (si aplica).</a:t>
                      </a:r>
                    </a:p>
                  </a:txBody>
                  <a:tcPr marL="60716" marR="75895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$80.000 - $150.000</a:t>
                      </a:r>
                    </a:p>
                  </a:txBody>
                  <a:tcPr marL="60716" marR="60716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997942"/>
                  </a:ext>
                </a:extLst>
              </a:tr>
              <a:tr h="70753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Salud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597" marR="75895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Copagos de EPS y medicamentos básicos.</a:t>
                      </a:r>
                    </a:p>
                  </a:txBody>
                  <a:tcPr marL="60716" marR="75895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$50.000 - $100.000</a:t>
                      </a:r>
                    </a:p>
                  </a:txBody>
                  <a:tcPr marL="60716" marR="60716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984048"/>
                  </a:ext>
                </a:extLst>
              </a:tr>
              <a:tr h="3629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---</a:t>
                      </a:r>
                    </a:p>
                  </a:txBody>
                  <a:tcPr marL="50597" marR="75895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---</a:t>
                      </a:r>
                    </a:p>
                  </a:txBody>
                  <a:tcPr marL="60716" marR="75895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---</a:t>
                      </a:r>
                    </a:p>
                  </a:txBody>
                  <a:tcPr marL="60716" marR="60716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121470"/>
                  </a:ext>
                </a:extLst>
              </a:tr>
              <a:tr h="70753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 MÍNIMO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597" marR="75895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 esencial para que estudien y coman</a:t>
                      </a:r>
                      <a:endParaRPr lang="es-MX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716" marR="75895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$1.280.000 - $2.050.000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716" marR="60716" marT="101194" marB="10119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313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9250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03239" y="0"/>
            <a:ext cx="8922773" cy="64633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¿Cómo PROFESIONAL, cuál debería ser el salario mínimo para una escala profesional? Argumenta tu respuesta.</a:t>
            </a:r>
          </a:p>
          <a:p>
            <a:r>
              <a:rPr lang="es-ES" dirty="0"/>
              <a:t> </a:t>
            </a:r>
          </a:p>
          <a:p>
            <a:r>
              <a:rPr lang="es-ES" dirty="0"/>
              <a:t>En mi caso como futuro ingeniero de sistemas , mi salario va dependiendo de que funciones</a:t>
            </a:r>
          </a:p>
          <a:p>
            <a:r>
              <a:rPr lang="es-ES" dirty="0"/>
              <a:t>Realice dentro de una empresa y en la rama en la que me quiera enfocar. Normalmente el salario va dentro de un rango de los 3.000.000 a 5.000.000 también depende de que especialización o maestría tenga. Puede incrementar mas mi salario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CO" dirty="0"/>
          </a:p>
        </p:txBody>
      </p:sp>
      <p:pic>
        <p:nvPicPr>
          <p:cNvPr id="1026" name="Picture 2" descr="Mascota ambiental UDES Verde | Universidad de Santander - UDES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6136" y="309716"/>
            <a:ext cx="967864" cy="1007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3596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778</TotalTime>
  <Words>1070</Words>
  <Application>Microsoft Office PowerPoint</Application>
  <PresentationFormat>Presentación en pantalla (4:3)</PresentationFormat>
  <Paragraphs>126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Bodoni MT</vt:lpstr>
      <vt:lpstr>Calibri</vt:lpstr>
      <vt:lpstr>Calibri Light</vt:lpstr>
      <vt:lpstr>Google Sans Text</vt:lpstr>
      <vt:lpstr>Wingdings</vt:lpstr>
      <vt:lpstr>Tema de Office</vt:lpstr>
      <vt:lpstr>Presentación de PowerPoint</vt:lpstr>
      <vt:lpstr>Presentación de PowerPoint</vt:lpstr>
      <vt:lpstr>Presentación de PowerPoint</vt:lpstr>
      <vt:lpstr>Histórico – Salario mínimo</vt:lpstr>
      <vt:lpstr>Salario mínimo en dólares – comparativo algunos países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Leydi Carelina Rueda</dc:creator>
  <cp:lastModifiedBy>ESTEBAN MAURICIO CALDERON BAYONA</cp:lastModifiedBy>
  <cp:revision>76</cp:revision>
  <dcterms:created xsi:type="dcterms:W3CDTF">2019-08-29T22:14:20Z</dcterms:created>
  <dcterms:modified xsi:type="dcterms:W3CDTF">2026-02-23T16:23:18Z</dcterms:modified>
</cp:coreProperties>
</file>