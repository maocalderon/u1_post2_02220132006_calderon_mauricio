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3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0" d="100"/>
          <a:sy n="80" d="100"/>
        </p:scale>
        <p:origin x="354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Triángulo rectángulo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grpSp>
        <p:nvGrpSpPr>
          <p:cNvPr id="2" name="1 Grupo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6 Forma libre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8" name="7 Forma libre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11" name="10 Forma libre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 sz="1800"/>
            </a:p>
          </p:txBody>
        </p:sp>
        <p:cxnSp>
          <p:nvCxnSpPr>
            <p:cNvPr id="12" name="11 Conector recto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76B360D-EEF0-476A-A862-B4408BAC0E20}" type="datetimeFigureOut">
              <a:rPr lang="es-CO" smtClean="0"/>
              <a:pPr/>
              <a:t>16/02/2026</a:t>
            </a:fld>
            <a:endParaRPr lang="es-C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s-CO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BE89EB2-5B73-4D9D-87B9-A48A70735977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360D-EEF0-476A-A862-B4408BAC0E20}" type="datetimeFigureOut">
              <a:rPr lang="es-CO" smtClean="0"/>
              <a:pPr/>
              <a:t>16/02/2026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89EB2-5B73-4D9D-87B9-A48A70735977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360D-EEF0-476A-A862-B4408BAC0E20}" type="datetimeFigureOut">
              <a:rPr lang="es-CO" smtClean="0"/>
              <a:pPr/>
              <a:t>16/02/2026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89EB2-5B73-4D9D-87B9-A48A70735977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6 Cheurón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  <p:sp>
        <p:nvSpPr>
          <p:cNvPr id="8" name="7 Cheurón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360D-EEF0-476A-A862-B4408BAC0E20}" type="datetimeFigureOut">
              <a:rPr lang="es-CO" smtClean="0"/>
              <a:pPr/>
              <a:t>16/02/2026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89EB2-5B73-4D9D-87B9-A48A70735977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360D-EEF0-476A-A862-B4408BAC0E20}" type="datetimeFigureOut">
              <a:rPr lang="es-CO" smtClean="0"/>
              <a:pPr/>
              <a:t>16/02/2026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89EB2-5B73-4D9D-87B9-A48A70735977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360D-EEF0-476A-A862-B4408BAC0E20}" type="datetimeFigureOut">
              <a:rPr lang="es-CO" smtClean="0"/>
              <a:pPr/>
              <a:t>16/02/2026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89EB2-5B73-4D9D-87B9-A48A70735977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360D-EEF0-476A-A862-B4408BAC0E20}" type="datetimeFigureOut">
              <a:rPr lang="es-CO" smtClean="0"/>
              <a:pPr/>
              <a:t>16/02/2026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89EB2-5B73-4D9D-87B9-A48A70735977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/>
          <a:p>
            <a:fld id="{876B360D-EEF0-476A-A862-B4408BAC0E20}" type="datetimeFigureOut">
              <a:rPr lang="es-CO" smtClean="0"/>
              <a:pPr/>
              <a:t>16/02/2026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89EB2-5B73-4D9D-87B9-A48A70735977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76B360D-EEF0-476A-A862-B4408BAC0E20}" type="datetimeFigureOut">
              <a:rPr lang="es-CO" smtClean="0"/>
              <a:pPr/>
              <a:t>16/02/2026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BE89EB2-5B73-4D9D-87B9-A48A70735977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955249" y="5001994"/>
            <a:ext cx="5069337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8 Forma libre"/>
          <p:cNvSpPr>
            <a:spLocks/>
          </p:cNvSpPr>
          <p:nvPr/>
        </p:nvSpPr>
        <p:spPr bwMode="auto">
          <a:xfrm>
            <a:off x="-71414" y="5785023"/>
            <a:ext cx="5069337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9 Triángulo rectángulo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1" name="10 Conector recto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11 Cheurón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  <p:sp>
        <p:nvSpPr>
          <p:cNvPr id="13" name="12 Cheurón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360D-EEF0-476A-A862-B4408BAC0E20}" type="datetimeFigureOut">
              <a:rPr lang="es-CO" smtClean="0"/>
              <a:pPr/>
              <a:t>16/02/2026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89EB2-5B73-4D9D-87B9-A48A70735977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360D-EEF0-476A-A862-B4408BAC0E20}" type="datetimeFigureOut">
              <a:rPr lang="es-CO" smtClean="0"/>
              <a:pPr/>
              <a:t>16/02/2026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89EB2-5B73-4D9D-87B9-A48A70735977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Forma libre"/>
          <p:cNvSpPr>
            <a:spLocks/>
          </p:cNvSpPr>
          <p:nvPr/>
        </p:nvSpPr>
        <p:spPr bwMode="auto">
          <a:xfrm>
            <a:off x="955249" y="5001994"/>
            <a:ext cx="5069337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11 Forma libre"/>
          <p:cNvSpPr>
            <a:spLocks/>
          </p:cNvSpPr>
          <p:nvPr/>
        </p:nvSpPr>
        <p:spPr bwMode="auto">
          <a:xfrm>
            <a:off x="-71414" y="5785023"/>
            <a:ext cx="5069337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4" name="13 Triángulo rectángulo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5" name="14 Conector recto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76B360D-EEF0-476A-A862-B4408BAC0E20}" type="datetimeFigureOut">
              <a:rPr lang="es-CO" smtClean="0"/>
              <a:pPr/>
              <a:t>16/02/2026</a:t>
            </a:fld>
            <a:endParaRPr lang="es-CO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s-C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BE89EB2-5B73-4D9D-87B9-A48A70735977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logo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3969" y="5857893"/>
            <a:ext cx="3057525" cy="990601"/>
          </a:xfrm>
          <a:prstGeom prst="rect">
            <a:avLst/>
          </a:prstGeom>
          <a:noFill/>
        </p:spPr>
      </p:pic>
      <p:sp>
        <p:nvSpPr>
          <p:cNvPr id="5" name="4 CuadroTexto"/>
          <p:cNvSpPr txBox="1"/>
          <p:nvPr/>
        </p:nvSpPr>
        <p:spPr>
          <a:xfrm>
            <a:off x="7810512" y="6027028"/>
            <a:ext cx="2857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cs typeface="Calibri" pitchFamily="34" charset="0"/>
              </a:rPr>
              <a:t>Álvaro Amaya Maldonado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cs typeface="Calibri" pitchFamily="34" charset="0"/>
              </a:rPr>
              <a:t>al.amaya@mail.udes.edu.co</a:t>
            </a:r>
            <a:endParaRPr lang="es-CO" sz="1600" dirty="0">
              <a:solidFill>
                <a:schemeClr val="bg1">
                  <a:lumMod val="9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es-CO" sz="16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cs typeface="Calibri" pitchFamily="34" charset="0"/>
              </a:rPr>
              <a:t>Celular 3142407535</a:t>
            </a:r>
            <a:endParaRPr lang="es-CO" sz="2000" dirty="0"/>
          </a:p>
        </p:txBody>
      </p:sp>
      <p:pic>
        <p:nvPicPr>
          <p:cNvPr id="8" name="Picture 2" descr="Resultado de imagen para whatsapp apk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2B5E5F"/>
              </a:clrFrom>
              <a:clrTo>
                <a:srgbClr val="2B5E5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00" t="15083" r="29016" b="9506"/>
          <a:stretch/>
        </p:blipFill>
        <p:spPr bwMode="auto">
          <a:xfrm>
            <a:off x="6456040" y="5768373"/>
            <a:ext cx="1224136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kajabi-storefronts-production.kajabi-cdn.com/kajabi-storefronts-production/file-uploads/blogs/2147503248/images/a48fda7-5b64-7ae5-0116-75c4301fd3a_infografia-inteligencia-artificial-en-la-educacion-mundana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" y="82281"/>
            <a:ext cx="3426333" cy="2082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i.pinimg.com/originals/13/0c/4e/130c4e8cb3e6eac5cd04dc6a538b1ec1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5852" y="1134397"/>
            <a:ext cx="2664296" cy="3552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images.mnstatic.com/5a/53/5a53567163184b3f4470e1d833948cd9.jpg?quality=75&amp;format=pjpg&amp;fit=crop&amp;width=980&amp;height=880&amp;aspect_ratio=980:88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971" y="2974287"/>
            <a:ext cx="1955591" cy="1756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ector recto de flecha 3"/>
          <p:cNvCxnSpPr>
            <a:endCxn id="1026" idx="2"/>
          </p:cNvCxnSpPr>
          <p:nvPr/>
        </p:nvCxnSpPr>
        <p:spPr>
          <a:xfrm flipH="1" flipV="1">
            <a:off x="1783588" y="2164954"/>
            <a:ext cx="3132383" cy="80933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>
            <a:stCxn id="1034" idx="3"/>
            <a:endCxn id="1028" idx="1"/>
          </p:cNvCxnSpPr>
          <p:nvPr/>
        </p:nvCxnSpPr>
        <p:spPr>
          <a:xfrm flipV="1">
            <a:off x="6871562" y="2910595"/>
            <a:ext cx="2464290" cy="94171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>
            <a:stCxn id="1034" idx="1"/>
            <a:endCxn id="2" idx="3"/>
          </p:cNvCxnSpPr>
          <p:nvPr/>
        </p:nvCxnSpPr>
        <p:spPr>
          <a:xfrm flipH="1">
            <a:off x="3476738" y="3852308"/>
            <a:ext cx="1439233" cy="1848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https://imgmedia.larepublica.pe/1200x630/larepublica/original/2024/11/26/6734eda75bb6f54c3376eab8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5" y="3148272"/>
            <a:ext cx="3386303" cy="177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5908" y="80098"/>
            <a:ext cx="3380711" cy="1901650"/>
          </a:xfrm>
          <a:prstGeom prst="rect">
            <a:avLst/>
          </a:prstGeom>
        </p:spPr>
      </p:pic>
      <p:cxnSp>
        <p:nvCxnSpPr>
          <p:cNvPr id="23" name="Conector recto de flecha 22"/>
          <p:cNvCxnSpPr>
            <a:stCxn id="1034" idx="0"/>
            <a:endCxn id="6" idx="2"/>
          </p:cNvCxnSpPr>
          <p:nvPr/>
        </p:nvCxnSpPr>
        <p:spPr>
          <a:xfrm flipV="1">
            <a:off x="5893767" y="1981748"/>
            <a:ext cx="312497" cy="9925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792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logo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3969" y="5857893"/>
            <a:ext cx="3057525" cy="990601"/>
          </a:xfrm>
          <a:prstGeom prst="rect">
            <a:avLst/>
          </a:prstGeom>
          <a:noFill/>
        </p:spPr>
      </p:pic>
      <p:sp>
        <p:nvSpPr>
          <p:cNvPr id="5" name="4 CuadroTexto"/>
          <p:cNvSpPr txBox="1"/>
          <p:nvPr/>
        </p:nvSpPr>
        <p:spPr>
          <a:xfrm>
            <a:off x="7810512" y="6027028"/>
            <a:ext cx="2857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cs typeface="Calibri" pitchFamily="34" charset="0"/>
              </a:rPr>
              <a:t>Álvaro Amaya Maldonado</a:t>
            </a:r>
          </a:p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cs typeface="Calibri" pitchFamily="34" charset="0"/>
              </a:rPr>
              <a:t>al.amaya@mail.udes.edu.co</a:t>
            </a:r>
            <a:endParaRPr lang="es-CO" sz="1600" dirty="0">
              <a:solidFill>
                <a:schemeClr val="bg1">
                  <a:lumMod val="9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es-CO" sz="16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cs typeface="Calibri" pitchFamily="34" charset="0"/>
              </a:rPr>
              <a:t>Celular 3142407535</a:t>
            </a:r>
            <a:endParaRPr lang="es-CO" sz="2000" dirty="0"/>
          </a:p>
        </p:txBody>
      </p:sp>
      <p:pic>
        <p:nvPicPr>
          <p:cNvPr id="8" name="Picture 2" descr="Resultado de imagen para whatsapp apk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2B5E5F"/>
              </a:clrFrom>
              <a:clrTo>
                <a:srgbClr val="2B5E5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00" t="15083" r="29016" b="9506"/>
          <a:stretch/>
        </p:blipFill>
        <p:spPr bwMode="auto">
          <a:xfrm>
            <a:off x="6456040" y="5768373"/>
            <a:ext cx="1224136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/>
          <p:cNvSpPr txBox="1"/>
          <p:nvPr/>
        </p:nvSpPr>
        <p:spPr>
          <a:xfrm>
            <a:off x="0" y="0"/>
            <a:ext cx="12000656" cy="5232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rgbClr val="00B0F0"/>
                </a:solidFill>
              </a:rPr>
              <a:t>Elige un tema de los propuestos y comenta al respecto.</a:t>
            </a:r>
            <a:endParaRPr lang="es-CO" dirty="0"/>
          </a:p>
        </p:txBody>
      </p:sp>
      <p:sp>
        <p:nvSpPr>
          <p:cNvPr id="6" name="CuadroTexto 5"/>
          <p:cNvSpPr txBox="1"/>
          <p:nvPr/>
        </p:nvSpPr>
        <p:spPr>
          <a:xfrm>
            <a:off x="59668" y="631201"/>
            <a:ext cx="11940988" cy="677108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tx1"/>
                </a:solidFill>
              </a:rPr>
              <a:t>Escribe aquí tu respuesta…!</a:t>
            </a:r>
          </a:p>
          <a:p>
            <a:pPr algn="just"/>
            <a:endParaRPr lang="es-ES" sz="1600" dirty="0">
              <a:solidFill>
                <a:schemeClr val="tx1"/>
              </a:solidFill>
            </a:endParaRPr>
          </a:p>
          <a:p>
            <a:pPr algn="just"/>
            <a:r>
              <a:rPr lang="es-MX" sz="1600" dirty="0">
                <a:solidFill>
                  <a:schemeClr val="tx1"/>
                </a:solidFill>
              </a:rPr>
              <a:t>Mi tema elegido se relaciona con las políticas migratorias implementadas por el presidente de los Estados Unidos, Donald Trump, respecto a los inmigrantes. Considero que algunas de sus medidas pueden resultar cuestionables, ya que contemplan la deportación de personas que se encuentran en un país distinto al de su </a:t>
            </a:r>
            <a:r>
              <a:rPr lang="es-MX" sz="1600" dirty="0" err="1">
                <a:solidFill>
                  <a:schemeClr val="tx1"/>
                </a:solidFill>
              </a:rPr>
              <a:t>origen.Es</a:t>
            </a:r>
            <a:r>
              <a:rPr lang="es-MX" sz="1600" dirty="0">
                <a:solidFill>
                  <a:schemeClr val="tx1"/>
                </a:solidFill>
              </a:rPr>
              <a:t> importante reconocer que muchas personas migran a Estados Unidos en busca de mejores oportunidades laborales, debido a las dificultades económicas y los altos niveles de pobreza que se presentan en varios países de Latinoamérica. En muchos casos, estas personas se ven obligadas a salir de sus países para trabajar y enviar apoyo económico a sus familias. Desde mi punto de vista, las políticas migratorias deberían evaluar cuidadosamente cada situación. Sería más justo diferenciar entre quienes han cometido delitos y quienes trabajan de manera honrada y contribuyen positivamente a la economía del país. Aquellas personas que representan un riesgo o han infringido la ley podrían enfrentar sanciones, mientras que quienes aportan al desarrollo económico y social deberían tener la oportunidad de permanecer y regularizar su situación.</a:t>
            </a:r>
            <a:endParaRPr lang="es-ES" sz="1600" dirty="0">
              <a:solidFill>
                <a:schemeClr val="tx1"/>
              </a:solidFill>
            </a:endParaRPr>
          </a:p>
          <a:p>
            <a:pPr algn="just"/>
            <a:endParaRPr lang="es-ES" sz="1600" dirty="0">
              <a:solidFill>
                <a:schemeClr val="tx1"/>
              </a:solidFill>
            </a:endParaRPr>
          </a:p>
          <a:p>
            <a:pPr algn="just"/>
            <a:endParaRPr lang="es-ES" sz="1400" dirty="0"/>
          </a:p>
          <a:p>
            <a:pPr algn="just"/>
            <a:endParaRPr lang="es-ES" sz="1400" dirty="0"/>
          </a:p>
          <a:p>
            <a:pPr algn="just"/>
            <a:endParaRPr lang="es-ES" sz="1400" dirty="0"/>
          </a:p>
          <a:p>
            <a:pPr algn="just"/>
            <a:endParaRPr lang="es-ES" sz="1400" dirty="0"/>
          </a:p>
          <a:p>
            <a:pPr algn="just"/>
            <a:endParaRPr lang="es-ES" sz="1400" dirty="0"/>
          </a:p>
          <a:p>
            <a:pPr algn="just"/>
            <a:endParaRPr lang="es-ES" sz="1400" dirty="0"/>
          </a:p>
          <a:p>
            <a:pPr algn="just"/>
            <a:endParaRPr lang="es-ES" sz="1400" dirty="0"/>
          </a:p>
          <a:p>
            <a:pPr algn="just"/>
            <a:endParaRPr lang="es-ES" sz="1400" dirty="0"/>
          </a:p>
          <a:p>
            <a:pPr algn="just"/>
            <a:endParaRPr lang="es-ES" sz="1400" dirty="0"/>
          </a:p>
          <a:p>
            <a:pPr algn="just"/>
            <a:endParaRPr lang="es-ES" sz="1400" dirty="0"/>
          </a:p>
          <a:p>
            <a:pPr algn="just"/>
            <a:endParaRPr lang="es-ES" sz="1400" dirty="0"/>
          </a:p>
          <a:p>
            <a:pPr algn="just"/>
            <a:endParaRPr lang="es-ES" sz="1400" dirty="0"/>
          </a:p>
          <a:p>
            <a:pPr algn="just"/>
            <a:endParaRPr lang="es-ES" sz="1400" dirty="0"/>
          </a:p>
          <a:p>
            <a:pPr algn="just"/>
            <a:endParaRPr lang="es-ES" sz="1400" dirty="0"/>
          </a:p>
          <a:p>
            <a:pPr algn="just"/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18400037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rencia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renc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818</TotalTime>
  <Words>238</Words>
  <Application>Microsoft Office PowerPoint</Application>
  <PresentationFormat>Panorámica</PresentationFormat>
  <Paragraphs>24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Calibri</vt:lpstr>
      <vt:lpstr>Lucida Sans Unicode</vt:lpstr>
      <vt:lpstr>Verdana</vt:lpstr>
      <vt:lpstr>Wingdings 2</vt:lpstr>
      <vt:lpstr>Wingdings 3</vt:lpstr>
      <vt:lpstr>Concurrencia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JUCAMAYA</dc:creator>
  <cp:lastModifiedBy>ESTEBAN MAURICIO CALDERON BAYONA</cp:lastModifiedBy>
  <cp:revision>178</cp:revision>
  <dcterms:created xsi:type="dcterms:W3CDTF">2015-02-09T14:33:11Z</dcterms:created>
  <dcterms:modified xsi:type="dcterms:W3CDTF">2026-02-16T12:16:54Z</dcterms:modified>
</cp:coreProperties>
</file>